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eb465eb-1b8a-a412-e902-cb71ff543f49}">
          <p14:sldIdLst>
            <p14:sldId id="256"/>
            <p14:sldId id="257"/>
          </p14:sldIdLst>
        </p14:section>
        <p14:section name="Solution" id="{9001e5dc-1c45-e773-492d-1bc025abdb18}">
          <p14:sldIdLst>
            <p14:sldId id="258"/>
            <p14:sldId id="259"/>
            <p14:sldId id="260"/>
            <p14:sldId id="261"/>
          </p14:sldIdLst>
        </p14:section>
        <p14:section name="Preuves" id="{da29b941-a291-e496-1044-d5a354687a34}">
          <p14:sldIdLst>
            <p14:sldId id="262"/>
            <p14:sldId id="263"/>
          </p14:sldIdLst>
        </p14:section>
        <p14:section name="Conclusion" id="{a7d2ee99-ae91-92b5-4619-a36c38868b9a}">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61E48"/>
                </a:solidFill>
                <a:latin typeface="+mn-lt"/>
              </a:defRPr>
            </a:pPr>
            <a:r>
              <a:rPr sz="1400" b="0" i="0" u="none" strike="noStrike">
                <a:solidFill>
                  <a:srgbClr val="261E48"/>
                </a:solidFill>
                <a:latin typeface="+mn-lt"/>
              </a:rPr>
              <a:t>Temps de reprise mesuré (secondes)</a:t>
            </a:r>
          </a:p>
        </c:rich>
      </c:tx>
      <c:layout/>
      <c:overlay val="0"/>
    </c:title>
    <c:autoTitleDeleted val="0"/>
    <c:plotArea>
      <c:layout/>
      <c:barChart>
        <c:barDir val="bar"/>
        <c:grouping val="clustered"/>
        <c:varyColors val="0"/>
        <c:ser>
          <c:idx val="0"/>
          <c:order val="0"/>
          <c:tx>
            <c:strRef>
              <c:f>Sheet1!$B$1</c:f>
              <c:strCache>
                <c:ptCount val="1"/>
                <c:pt idx="0">
                  <c:v>RTO (s)</c:v>
                </c:pt>
              </c:strCache>
            </c:strRef>
          </c:tx>
          <c:spPr>
            <a:solidFill>
              <a:srgbClr val="4A4E9C"/>
            </a:solidFill>
            <a:effectLst/>
          </c:spPr>
          <c:invertIfNegative val="0"/>
          <c:dLbls>
            <c:numFmt formatCode="0.0" sourceLinked="0"/>
            <c:txPr>
              <a:bodyPr/>
              <a:lstStyle/>
              <a:p>
                <a:pPr>
                  <a:defRPr b="0" i="0" strike="noStrike" sz="1200" u="none">
                    <a:solidFill>
                      <a:srgbClr val="261E48"/>
                    </a:solidFill>
                    <a:latin typeface="+mn-lt"/>
                  </a:defRPr>
                </a:pPr>
              </a:p>
            </c:txPr>
            <c:showLegendKey val="0"/>
            <c:showVal val="1"/>
            <c:showCatName val="0"/>
            <c:showSerName val="0"/>
            <c:showPercent val="0"/>
            <c:showBubbleSize val="0"/>
            <c:showLeaderLines val="0"/>
          </c:dLbls>
          <c:cat>
            <c:multiLvlStrRef>
              <c:f>Sheet1!$A$2:$A$7</c:f>
              <c:multiLvlStrCache>
                <c:ptCount val="6"/>
                <c:lvl>
                  <c:pt idx="0">
                    <c:v>Altération des soldes (ML)</c:v>
                  </c:pt>
                  <c:pt idx="1">
                    <c:v>Saturation CPU (ML)</c:v>
                  </c:pt>
                  <c:pt idx="2">
                    <c:v>Arrêt du moteur</c:v>
                  </c:pt>
                  <c:pt idx="3">
                    <c:v>Arrêt du ml-detector</c:v>
                  </c:pt>
                  <c:pt idx="4">
                    <c:v>Arrêt de PostgreSQL</c:v>
                  </c:pt>
                  <c:pt idx="5">
                    <c:v>Arrêt de payment-service</c:v>
                  </c:pt>
                </c:lvl>
              </c:multiLvlStrCache>
            </c:multiLvlStrRef>
          </c:cat>
          <c:val>
            <c:numRef>
              <c:f>Sheet1!$B$2:$B$7</c:f>
              <c:numCache>
                <c:formatCode>General</c:formatCode>
                <c:ptCount val="6"/>
                <c:pt idx="0">
                  <c:v>39.6</c:v>
                </c:pt>
                <c:pt idx="1">
                  <c:v>38.5</c:v>
                </c:pt>
                <c:pt idx="2">
                  <c:v>5.1</c:v>
                </c:pt>
                <c:pt idx="3">
                  <c:v>2.8</c:v>
                </c:pt>
                <c:pt idx="4">
                  <c:v>1.9</c:v>
                </c:pt>
                <c:pt idx="5">
                  <c:v>1.8</c:v>
                </c:pt>
              </c:numCache>
            </c:numRef>
          </c:val>
        </c:ser>
        <c:dLbls>
          <c:numFmt formatCode="0.0" sourceLinked="0"/>
          <c:txPr>
            <a:bodyPr/>
            <a:lstStyle/>
            <a:p>
              <a:pPr>
                <a:defRPr b="0" i="0" strike="noStrike" sz="1200" u="none">
                  <a:solidFill>
                    <a:srgbClr val="261E4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61E48"/>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b"/>
        <c:majorGridlines>
          <c:spPr>
            <a:ln w="9525" cap="flat">
              <a:solidFill>
                <a:srgbClr val="E4E6F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E5878"/>
                </a:solidFill>
                <a:latin typeface="+mn-lt"/>
              </a:defRPr>
            </a:pPr>
            <a:endParaRPr lang="en-US"/>
          </a:p>
        </c:txPr>
        <c:crossAx val="2094734554"/>
        <c:crosses val="autoZero"/>
        <c:crossBetween val="between"/>
        <c:majorUnit val="1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[DREVET, chef de projet] Il est 3 h du matin. La plateforme de paiement d'une banque tombe. Il faut réveiller un ingénieur, comprendre la panne, tout relancer à la main. Pendant ce temps, des milliers de clients ne peuvent plus payer. Tout système finit par tomber. La vraie question, c'est : le vôtre saura-t-il se relever seul ? (Chaque membre se présente en une phrase : prénom + pilier.)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[DREVET, chef de projet] Nous avons construit RESILIENCE-ALPHA : une plateforme de paiement qui détecte une attaque, se répare toute seule, puis prouve qu'elle remarche, sans qu'un humain touche au clavier. Le paiement est entièrement codé par nous : pas de Stripe, pas de module tout fait.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 DEV] Notre plateforme ressemble à une petite banque en ligne : un site client, un service de connexion, un service de virements, une base de données. Un robot client fait un vrai virement toutes les 5 secondes : c'est notre témoin. Tant qu'il réussit, le service est réellement disponible. Chaque incident traverse cette boucle : observer, détecter, décider, agir, vérifier.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 (DEV) puis BULLION (INFRA)] Pour les techniciens : microservices Python/FastAPI derrière un front React + Tailwind, REST, Docker Compose et Ansible, observabilité Prometheus, Loki et Grafana. Seul le WAF est exposé au réseau. En bas, le plan de contrôle : l'observabilité alimente le ml-detector, qui envoie ses événements au moteur de remédiation. Le moteur agit sur le WAF, les services et la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[VERGNAULT, IA/DATA] Les systèmes classiques déclenchent une alarme au-delà d'un seuil fixe. Un attaquant prudent reste juste en dessous. Nous avons fait l'inverse : pendant 10 minutes, notre IA apprend la normale, puis repère tout ce qui s'en écarte. Pour les techniciens : Isolation Forest plus une enveloppe robuste, 19 indicateurs toutes les 5 secondes, dont un invariant comptable : la somme des soldes ne doit jamais changer.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[LERUYET, CYBER] Une fois l'attaque reconnue, le moteur applique un plan écrit à l'avance, comme une procédure d'urgence. Point clé : l'IA détecte mais ce n'est pas elle qui décide. Le moteur passe par un proxy Docker qui n'autorise que lister, redémarrer et envoyer un signal : il ne peut ni créer ni supprimer de conteneur.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[LERUYET, CYBER] Nos chiffres mesurés : un service qui plante est relancé en moins de 2 secondes. Quand tous les soldes sont falsifiés, la plateforme passe en lecture seule, restaure la base, déconnecte toutes les sessions et rouvre en 40 secondes, sans intervention. L'incident n'est clos qu'après un nouveau virement réussi. (Mettre à jour avec les mesures de la recette sur le PC Hôte.)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[DIKEL, TRANSFORMATION] Ce démonstrateur répond à une vraie obligation : depuis 2025, le règlement européen DORA impose aux acteurs financiers de détecter les incidents, de s'en relever et de tester leur résilience. Notre analyse EBIOS RM a identifié 5 scénarios : chacun a sa réponse automatique dans la plateforme. Notre plan de reprise fixe 60 secondes maximum, et nos tests le respectent.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[DIKEL, TRANSFORMATION] Nos recommandations : un, généraliser l'auto-réparation aux services critiques ; deux, supprimer le point unique de défaillance avec plusieurs serveurs ; trois, faire des tests de panne chaque mois.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[DREVET, chef de projet] En résumé : notre plateforme est attaquée, elle le voit, elle se répare et elle prouve qu'elle remarche, en moins d'une minute et sans humain. Ne nous croyez pas sur parole : on vous le montre maintenant. → Lancer la démo (docs/08-demo-chaos.md).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261E4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743200"/>
            <a:ext cx="7498080" cy="10972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931920"/>
            <a:ext cx="7498080" cy="914400"/>
          </a:xfrm>
          <a:prstGeom prst="rect">
            <a:avLst/>
          </a:prstGeom>
          <a:noFill/>
          <a:ln/>
        </p:spPr>
        <p:txBody>
          <a:bodyPr wrap="square" rtlCol="0"/>
          <a:lstStyle>
            <a:lvl1pPr indent="0" marL="0">
              <a:buNone/>
              <a:defRPr lang="en-US" sz="2000" i="1" dirty="0">
                <a:solidFill>
                  <a:schemeClr val="accent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RESILIENCE-ALPHA · Workshop M2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87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rgbClr val="261E4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10058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8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ercle décor 1"/>
          <p:cNvSpPr/>
          <p:nvPr/>
        </p:nvSpPr>
        <p:spPr>
          <a:xfrm>
            <a:off x="8138160" y="-1463040"/>
            <a:ext cx="5669280" cy="5669280"/>
          </a:xfrm>
          <a:prstGeom prst="ellipse">
            <a:avLst/>
          </a:prstGeom>
          <a:solidFill>
            <a:schemeClr val="accent2"/>
          </a:solidFill>
          <a:ln w="12700">
            <a:solidFill>
              <a:schemeClr val="accent2"/>
            </a:solidFill>
            <a:prstDash val="solid"/>
          </a:ln>
        </p:spPr>
      </p:sp>
      <p:sp>
        <p:nvSpPr>
          <p:cNvPr id="3" name="Cercle décor 2"/>
          <p:cNvSpPr/>
          <p:nvPr/>
        </p:nvSpPr>
        <p:spPr>
          <a:xfrm>
            <a:off x="9692640" y="2377440"/>
            <a:ext cx="3657600" cy="3657600"/>
          </a:xfrm>
          <a:prstGeom prst="ellipse">
            <a:avLst/>
          </a:prstGeom>
          <a:solidFill>
            <a:schemeClr val="accent4"/>
          </a:solidFill>
          <a:ln w="12700">
            <a:solidFill>
              <a:schemeClr val="accent4"/>
            </a:solidFill>
            <a:prstDash val="solid"/>
          </a:ln>
        </p:spPr>
      </p:sp>
      <p:sp>
        <p:nvSpPr>
          <p:cNvPr id="4" name="Surtitre"/>
          <p:cNvSpPr txBox="1"/>
          <p:nvPr/>
        </p:nvSpPr>
        <p:spPr>
          <a:xfrm>
            <a:off x="731520" y="640080"/>
            <a:ext cx="6400800" cy="365760"/>
          </a:xfrm>
          <a:prstGeom prst="rect">
            <a:avLst/>
          </a:prstGeom>
          <a:noFill/>
          <a:ln/>
        </p:spPr>
        <p:txBody>
          <a:bodyPr wrap="square" lIns="0" tIns="0" rIns="0" bIns="0" rtlCol="0" anchor="ctr"/>
          <a:lstStyle/>
          <a:p>
            <a:pPr indent="0" marL="0">
              <a:buNone/>
            </a:pPr>
            <a:r>
              <a:rPr lang="en-US" sz="1400" b="1" spc="200" kern="0" dirty="0">
                <a:solidFill>
                  <a:schemeClr val="bg1"/>
                </a:solidFill>
              </a:rPr>
              <a:t>WORKSHOP M2 2026</a:t>
            </a:r>
            <a:endParaRPr lang="en-US" sz="1400" dirty="0"/>
          </a:p>
        </p:txBody>
      </p:sp>
      <p:sp>
        <p:nvSpPr>
          <p:cNvPr id="5" name="Text 0"/>
          <p:cNvSpPr/>
          <p:nvPr>
            <p:ph idx="100" type="title" hasCustomPrompt="1"/>
          </p:nvPr>
        </p:nvSpPr>
        <p:spPr>
          <a:xfrm>
            <a:off x="731520" y="2743200"/>
            <a:ext cx="7498080" cy="1097280"/>
          </a:xfrm>
          <a:prstGeom prst="rect">
            <a:avLst/>
          </a:prstGeom>
          <a:noFill/>
          <a:ln/>
        </p:spPr>
        <p:txBody>
          <a:bodyPr wrap="square" lIns="0" tIns="0" rIns="0" bIns="0" rtlCol="0" anchor="b"/>
          <a:lstStyle/>
          <a:p>
            <a:pPr algn="l" indent="0" marL="0">
              <a:buNone/>
            </a:pPr>
            <a:r>
              <a:rPr lang="en-US" sz="5400" b="1" dirty="0">
                <a:solidFill>
                  <a:schemeClr val="bg1"/>
                </a:solidFill>
              </a:rPr>
              <a:t>RESILIENCE-ALPHA</a:t>
            </a:r>
            <a:endParaRPr lang="en-US" sz="5400" dirty="0"/>
          </a:p>
        </p:txBody>
      </p:sp>
      <p:sp>
        <p:nvSpPr>
          <p:cNvPr id="6" name="Text 0"/>
          <p:cNvSpPr/>
          <p:nvPr>
            <p:ph idx="101" type="body" hasCustomPrompt="1"/>
          </p:nvPr>
        </p:nvSpPr>
        <p:spPr>
          <a:xfrm>
            <a:off x="731520" y="3931920"/>
            <a:ext cx="7498080" cy="914400"/>
          </a:xfrm>
          <a:prstGeom prst="rect">
            <a:avLst/>
          </a:prstGeom>
          <a:noFill/>
          <a:ln/>
        </p:spPr>
        <p:txBody>
          <a:bodyPr wrap="square" lIns="0" tIns="0" rIns="0" bIns="0" rtlCol="0" anchor="t"/>
          <a:lstStyle/>
          <a:p>
            <a:pPr indent="0" marL="0">
              <a:buNone/>
            </a:pPr>
            <a:r>
              <a:rPr lang="en-US" sz="2000" i="1" dirty="0">
                <a:solidFill>
                  <a:schemeClr val="accent2"/>
                </a:solidFill>
              </a:rPr>
              <a:t>« Tout système finit par tomber. La vraie question : le vôtre saura-t-il se relever seul ? »</a:t>
            </a:r>
            <a:endParaRPr lang="en-US" sz="2000" dirty="0"/>
          </a:p>
        </p:txBody>
      </p:sp>
      <p:sp>
        <p:nvSpPr>
          <p:cNvPr id="7" name="Équipe"/>
          <p:cNvSpPr txBox="1"/>
          <p:nvPr/>
        </p:nvSpPr>
        <p:spPr>
          <a:xfrm>
            <a:off x="731520" y="5943600"/>
            <a:ext cx="8229600" cy="365760"/>
          </a:xfrm>
          <a:prstGeom prst="rect">
            <a:avLst/>
          </a:prstGeom>
          <a:noFill/>
          <a:ln/>
        </p:spPr>
        <p:txBody>
          <a:bodyPr wrap="square" lIns="0" tIns="0" rIns="0" bIns="0" rtlCol="0" anchor="ctr"/>
          <a:lstStyle/>
          <a:p>
            <a:pPr indent="0" marL="0">
              <a:buNone/>
            </a:pPr>
            <a:r>
              <a:rPr lang="en-US" sz="1400" dirty="0">
                <a:solidFill>
                  <a:schemeClr val="bg1"/>
                </a:solidFill>
              </a:rPr>
              <a:t>Équipe : CONTE · VERGNAULT · BULLION · LERUYET · DREVET · DIKEL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Aujourd'hui, une panne se répare à la main</a:t>
            </a:r>
            <a:endParaRPr lang="en-US" sz="3400" dirty="0"/>
          </a:p>
        </p:txBody>
      </p:sp>
      <p:sp>
        <p:nvSpPr>
          <p:cNvPr id="3" name="Carte avant"/>
          <p:cNvSpPr/>
          <p:nvPr/>
        </p:nvSpPr>
        <p:spPr>
          <a:xfrm>
            <a:off x="548640" y="1463040"/>
            <a:ext cx="5212080" cy="4206240"/>
          </a:xfrm>
          <a:prstGeom prst="roundRect">
            <a:avLst>
              <a:gd name="adj" fmla="val 2609"/>
            </a:avLst>
          </a:prstGeom>
          <a:solidFill>
            <a:schemeClr val="bg2"/>
          </a:solidFill>
          <a:ln w="12700">
            <a:solidFill>
              <a:schemeClr val="bg2"/>
            </a:solidFill>
            <a:prstDash val="solid"/>
          </a:ln>
        </p:spPr>
      </p:sp>
      <p:sp>
        <p:nvSpPr>
          <p:cNvPr id="4" name="Carte après"/>
          <p:cNvSpPr/>
          <p:nvPr/>
        </p:nvSpPr>
        <p:spPr>
          <a:xfrm>
            <a:off x="6400800" y="1463040"/>
            <a:ext cx="5212080" cy="4206240"/>
          </a:xfrm>
          <a:prstGeom prst="roundRect">
            <a:avLst>
              <a:gd name="adj" fmla="val 2609"/>
            </a:avLst>
          </a:prstGeom>
          <a:solidFill>
            <a:schemeClr val="tx1"/>
          </a:solidFill>
          <a:ln w="12700">
            <a:solidFill>
              <a:schemeClr val="tx1"/>
            </a:solidFill>
            <a:prstDash val="solid"/>
          </a:ln>
        </p:spPr>
      </p:sp>
      <p:sp>
        <p:nvSpPr>
          <p:cNvPr id="5" name="Titre avant"/>
          <p:cNvSpPr txBox="1"/>
          <p:nvPr/>
        </p:nvSpPr>
        <p:spPr>
          <a:xfrm>
            <a:off x="868680" y="1691640"/>
            <a:ext cx="4572000" cy="457200"/>
          </a:xfrm>
          <a:prstGeom prst="rect">
            <a:avLst/>
          </a:prstGeom>
          <a:noFill/>
          <a:ln/>
        </p:spPr>
        <p:txBody>
          <a:bodyPr wrap="square" lIns="0" tIns="0" rIns="0" bIns="0" rtlCol="0" anchor="ctr"/>
          <a:lstStyle/>
          <a:p>
            <a:pPr indent="0" marL="0">
              <a:buNone/>
            </a:pPr>
            <a:r>
              <a:rPr lang="en-US" sz="2200" b="1" dirty="0">
                <a:solidFill>
                  <a:schemeClr val="tx1"/>
                </a:solidFill>
              </a:rPr>
              <a:t>Aujourd'hui</a:t>
            </a:r>
            <a:endParaRPr lang="en-US" sz="2200" dirty="0"/>
          </a:p>
        </p:txBody>
      </p:sp>
      <p:sp>
        <p:nvSpPr>
          <p:cNvPr id="6" name="Liste avant"/>
          <p:cNvSpPr txBox="1"/>
          <p:nvPr/>
        </p:nvSpPr>
        <p:spPr>
          <a:xfrm>
            <a:off x="868680" y="2331720"/>
            <a:ext cx="4663440" cy="237744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Un humain doit être réveillé et comprendre la panne</a:t>
            </a:r>
            <a:endParaRPr lang="en-US" sz="1800" dirty="0"/>
          </a:p>
          <a:p>
            <a:pPr marL="342900" indent="-342900">
              <a:spcAft>
                <a:spcPts val="1200"/>
              </a:spcAft>
              <a:buSzPct val="100000"/>
              <a:buChar char="•"/>
            </a:pPr>
            <a:r>
              <a:rPr lang="en-US" sz="1800" dirty="0">
                <a:solidFill>
                  <a:schemeClr val="tx1"/>
                </a:solidFill>
              </a:rPr>
              <a:t>Relance manuelle : lente et impossible à reproduire</a:t>
            </a:r>
            <a:endParaRPr lang="en-US" sz="1800" dirty="0"/>
          </a:p>
          <a:p>
            <a:pPr marL="342900" indent="-342900">
              <a:spcAft>
                <a:spcPts val="1200"/>
              </a:spcAft>
              <a:buSzPct val="100000"/>
              <a:buChar char="•"/>
            </a:pPr>
            <a:r>
              <a:rPr lang="en-US" sz="1800" dirty="0">
                <a:solidFill>
                  <a:schemeClr val="tx1"/>
                </a:solidFill>
              </a:rPr>
              <a:t>Aucune preuve que le service remarche vraiment</a:t>
            </a:r>
            <a:endParaRPr lang="en-US" sz="1800" dirty="0"/>
          </a:p>
        </p:txBody>
      </p:sp>
      <p:sp>
        <p:nvSpPr>
          <p:cNvPr id="7" name="Titre après"/>
          <p:cNvSpPr txBox="1"/>
          <p:nvPr/>
        </p:nvSpPr>
        <p:spPr>
          <a:xfrm>
            <a:off x="6720840" y="1691640"/>
            <a:ext cx="4572000" cy="457200"/>
          </a:xfrm>
          <a:prstGeom prst="rect">
            <a:avLst/>
          </a:prstGeom>
          <a:noFill/>
          <a:ln/>
        </p:spPr>
        <p:txBody>
          <a:bodyPr wrap="square" lIns="0" tIns="0" rIns="0" bIns="0" rtlCol="0" anchor="ctr"/>
          <a:lstStyle/>
          <a:p>
            <a:pPr indent="0" marL="0">
              <a:buNone/>
            </a:pPr>
            <a:r>
              <a:rPr lang="en-US" sz="2200" b="1" dirty="0">
                <a:solidFill>
                  <a:schemeClr val="bg1"/>
                </a:solidFill>
              </a:rPr>
              <a:t>Avec RESILIENCE-ALPHA</a:t>
            </a:r>
            <a:endParaRPr lang="en-US" sz="2200" dirty="0"/>
          </a:p>
        </p:txBody>
      </p:sp>
      <p:sp>
        <p:nvSpPr>
          <p:cNvPr id="8" name="Liste après"/>
          <p:cNvSpPr txBox="1"/>
          <p:nvPr/>
        </p:nvSpPr>
        <p:spPr>
          <a:xfrm>
            <a:off x="6720840" y="2331720"/>
            <a:ext cx="4663440" cy="237744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bg1"/>
                </a:solidFill>
              </a:rPr>
              <a:t>La plateforme voit l'attaque elle-même (machine learning)</a:t>
            </a:r>
            <a:endParaRPr lang="en-US" sz="1800" dirty="0"/>
          </a:p>
          <a:p>
            <a:pPr marL="342900" indent="-342900">
              <a:spcAft>
                <a:spcPts val="1200"/>
              </a:spcAft>
              <a:buSzPct val="100000"/>
              <a:buChar char="•"/>
            </a:pPr>
            <a:r>
              <a:rPr lang="en-US" sz="1800" dirty="0">
                <a:solidFill>
                  <a:schemeClr val="bg1"/>
                </a:solidFill>
              </a:rPr>
              <a:t>Elle applique un plan de réponse écrit à l'avance</a:t>
            </a:r>
            <a:endParaRPr lang="en-US" sz="1800" dirty="0"/>
          </a:p>
          <a:p>
            <a:pPr marL="342900" indent="-342900">
              <a:spcAft>
                <a:spcPts val="1200"/>
              </a:spcAft>
              <a:buSzPct val="100000"/>
              <a:buChar char="•"/>
            </a:pPr>
            <a:r>
              <a:rPr lang="en-US" sz="1800" dirty="0">
                <a:solidFill>
                  <a:schemeClr val="bg1"/>
                </a:solidFill>
              </a:rPr>
              <a:t>Elle prouve sa reprise par un vrai virement</a:t>
            </a:r>
            <a:endParaRPr lang="en-US" sz="1800" dirty="0"/>
          </a:p>
        </p:txBody>
      </p:sp>
      <p:sp>
        <p:nvSpPr>
          <p:cNvPr id="9" name="Stat zéro"/>
          <p:cNvSpPr txBox="1"/>
          <p:nvPr/>
        </p:nvSpPr>
        <p:spPr>
          <a:xfrm>
            <a:off x="6720840" y="4800600"/>
            <a:ext cx="4663440" cy="685800"/>
          </a:xfrm>
          <a:prstGeom prst="rect">
            <a:avLst/>
          </a:prstGeom>
          <a:noFill/>
          <a:ln/>
        </p:spPr>
        <p:txBody>
          <a:bodyPr wrap="square" lIns="0" tIns="0" rIns="0" bIns="0" rtlCol="0" anchor="ctr"/>
          <a:lstStyle/>
          <a:p>
            <a:pPr indent="0" marL="0">
              <a:buNone/>
            </a:pPr>
            <a:r>
              <a:rPr lang="en-US" sz="4000" b="1" dirty="0">
                <a:solidFill>
                  <a:schemeClr val="accent2"/>
                </a:solidFill>
              </a:rPr>
              <a:t>0</a:t>
            </a:r>
            <a:pPr indent="0" marL="0">
              <a:buNone/>
            </a:pPr>
            <a:r>
              <a:rPr lang="en-US" sz="1600" dirty="0">
                <a:solidFill>
                  <a:schemeClr val="bg1"/>
                </a:solidFill>
              </a:rPr>
              <a:t>   intervention humaine pendant la reprise</a:t>
            </a:r>
            <a:endParaRPr lang="en-US" sz="4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8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Une boucle fermée, sans humain</a:t>
            </a:r>
            <a:endParaRPr lang="en-US" sz="3400" dirty="0"/>
          </a:p>
        </p:txBody>
      </p:sp>
      <p:sp>
        <p:nvSpPr>
          <p:cNvPr id="3" name="Étape 1"/>
          <p:cNvSpPr/>
          <p:nvPr/>
        </p:nvSpPr>
        <p:spPr>
          <a:xfrm>
            <a:off x="1074420" y="1737360"/>
            <a:ext cx="1234440" cy="1234440"/>
          </a:xfrm>
          <a:prstGeom prst="ellipse">
            <a:avLst/>
          </a:prstGeom>
          <a:solidFill>
            <a:schemeClr val="accent2"/>
          </a:solidFill>
          <a:ln w="12700">
            <a:solidFill>
              <a:schemeClr val="accent2"/>
            </a:solidFill>
            <a:prstDash val="solid"/>
          </a:ln>
        </p:spPr>
      </p:sp>
      <p:sp>
        <p:nvSpPr>
          <p:cNvPr id="4" name="Étape 1 texte"/>
          <p:cNvSpPr txBox="1"/>
          <p:nvPr/>
        </p:nvSpPr>
        <p:spPr>
          <a:xfrm>
            <a:off x="1074420" y="1737360"/>
            <a:ext cx="1234440" cy="1234440"/>
          </a:xfrm>
          <a:prstGeom prst="rect">
            <a:avLst/>
          </a:prstGeom>
          <a:noFill/>
          <a:ln/>
        </p:spPr>
        <p:txBody>
          <a:bodyPr wrap="square" lIns="0" tIns="0" rIns="0" bIns="0" rtlCol="0" anchor="ctr"/>
          <a:lstStyle/>
          <a:p>
            <a:pPr algn="ctr" indent="0" marL="0">
              <a:buNone/>
            </a:pPr>
            <a:r>
              <a:rPr lang="en-US" sz="3000" b="1" dirty="0">
                <a:solidFill>
                  <a:schemeClr val="tx1"/>
                </a:solidFill>
              </a:rPr>
              <a:t>1</a:t>
            </a:r>
            <a:endParaRPr lang="en-US" sz="3000" dirty="0"/>
          </a:p>
        </p:txBody>
      </p:sp>
      <p:sp>
        <p:nvSpPr>
          <p:cNvPr id="5" name="Étape titre 1"/>
          <p:cNvSpPr txBox="1"/>
          <p:nvPr/>
        </p:nvSpPr>
        <p:spPr>
          <a:xfrm>
            <a:off x="617220" y="3108960"/>
            <a:ext cx="2148840" cy="457200"/>
          </a:xfrm>
          <a:prstGeom prst="rect">
            <a:avLst/>
          </a:prstGeom>
          <a:noFill/>
          <a:ln/>
        </p:spPr>
        <p:txBody>
          <a:bodyPr wrap="square" lIns="0" tIns="0" rIns="0" bIns="0" rtlCol="0" anchor="ctr"/>
          <a:lstStyle/>
          <a:p>
            <a:pPr algn="ctr" indent="0" marL="0">
              <a:buNone/>
            </a:pPr>
            <a:r>
              <a:rPr lang="en-US" sz="2000" b="1" dirty="0">
                <a:solidFill>
                  <a:schemeClr val="tx1"/>
                </a:solidFill>
              </a:rPr>
              <a:t>Observer</a:t>
            </a:r>
            <a:endParaRPr lang="en-US" sz="2000" dirty="0"/>
          </a:p>
        </p:txBody>
      </p:sp>
      <p:sp>
        <p:nvSpPr>
          <p:cNvPr id="6" name="Étape détail 1"/>
          <p:cNvSpPr txBox="1"/>
          <p:nvPr/>
        </p:nvSpPr>
        <p:spPr>
          <a:xfrm>
            <a:off x="617220" y="3566160"/>
            <a:ext cx="2148840" cy="822960"/>
          </a:xfrm>
          <a:prstGeom prst="rect">
            <a:avLst/>
          </a:prstGeom>
          <a:noFill/>
          <a:ln/>
        </p:spPr>
        <p:txBody>
          <a:bodyPr wrap="square" lIns="0" tIns="0" rIns="0" bIns="0" rtlCol="0" anchor="t"/>
          <a:lstStyle/>
          <a:p>
            <a:pPr algn="ctr" indent="0" marL="0">
              <a:buNone/>
            </a:pPr>
            <a:r>
              <a:rPr lang="en-US" sz="1400" dirty="0">
                <a:solidFill>
                  <a:schemeClr val="accent5"/>
                </a:solidFill>
              </a:rPr>
              <a:t>Métriques et journaux de tous les services</a:t>
            </a:r>
            <a:endParaRPr lang="en-US" sz="1400" dirty="0"/>
          </a:p>
        </p:txBody>
      </p:sp>
      <p:sp>
        <p:nvSpPr>
          <p:cNvPr id="7" name="Flèche"/>
          <p:cNvSpPr/>
          <p:nvPr/>
        </p:nvSpPr>
        <p:spPr>
          <a:xfrm>
            <a:off x="2418588" y="2354580"/>
            <a:ext cx="747522" cy="914"/>
          </a:xfrm>
          <a:prstGeom prst="line">
            <a:avLst/>
          </a:prstGeom>
          <a:noFill/>
          <a:ln w="22225">
            <a:solidFill>
              <a:schemeClr val="tx1"/>
            </a:solidFill>
            <a:prstDash val="solid"/>
            <a:tailEnd type="triangle"/>
          </a:ln>
        </p:spPr>
      </p:sp>
      <p:sp>
        <p:nvSpPr>
          <p:cNvPr id="8" name="Étape 2"/>
          <p:cNvSpPr/>
          <p:nvPr/>
        </p:nvSpPr>
        <p:spPr>
          <a:xfrm>
            <a:off x="3275838" y="1737360"/>
            <a:ext cx="1234440" cy="1234440"/>
          </a:xfrm>
          <a:prstGeom prst="ellipse">
            <a:avLst/>
          </a:prstGeom>
          <a:solidFill>
            <a:schemeClr val="accent2"/>
          </a:solidFill>
          <a:ln w="12700">
            <a:solidFill>
              <a:schemeClr val="accent2"/>
            </a:solidFill>
            <a:prstDash val="solid"/>
          </a:ln>
        </p:spPr>
      </p:sp>
      <p:sp>
        <p:nvSpPr>
          <p:cNvPr id="9" name="Étape 2 texte"/>
          <p:cNvSpPr txBox="1"/>
          <p:nvPr/>
        </p:nvSpPr>
        <p:spPr>
          <a:xfrm>
            <a:off x="3275838" y="1737360"/>
            <a:ext cx="1234440" cy="1234440"/>
          </a:xfrm>
          <a:prstGeom prst="rect">
            <a:avLst/>
          </a:prstGeom>
          <a:noFill/>
          <a:ln/>
        </p:spPr>
        <p:txBody>
          <a:bodyPr wrap="square" lIns="0" tIns="0" rIns="0" bIns="0" rtlCol="0" anchor="ctr"/>
          <a:lstStyle/>
          <a:p>
            <a:pPr algn="ctr" indent="0" marL="0">
              <a:buNone/>
            </a:pPr>
            <a:r>
              <a:rPr lang="en-US" sz="3000" b="1" dirty="0">
                <a:solidFill>
                  <a:schemeClr val="tx1"/>
                </a:solidFill>
              </a:rPr>
              <a:t>2</a:t>
            </a:r>
            <a:endParaRPr lang="en-US" sz="3000" dirty="0"/>
          </a:p>
        </p:txBody>
      </p:sp>
      <p:sp>
        <p:nvSpPr>
          <p:cNvPr id="10" name="Étape titre 2"/>
          <p:cNvSpPr txBox="1"/>
          <p:nvPr/>
        </p:nvSpPr>
        <p:spPr>
          <a:xfrm>
            <a:off x="2818638" y="3108960"/>
            <a:ext cx="2148840" cy="457200"/>
          </a:xfrm>
          <a:prstGeom prst="rect">
            <a:avLst/>
          </a:prstGeom>
          <a:noFill/>
          <a:ln/>
        </p:spPr>
        <p:txBody>
          <a:bodyPr wrap="square" lIns="0" tIns="0" rIns="0" bIns="0" rtlCol="0" anchor="ctr"/>
          <a:lstStyle/>
          <a:p>
            <a:pPr algn="ctr" indent="0" marL="0">
              <a:buNone/>
            </a:pPr>
            <a:r>
              <a:rPr lang="en-US" sz="2000" b="1" dirty="0">
                <a:solidFill>
                  <a:schemeClr val="tx1"/>
                </a:solidFill>
              </a:rPr>
              <a:t>Détecter</a:t>
            </a:r>
            <a:endParaRPr lang="en-US" sz="2000" dirty="0"/>
          </a:p>
        </p:txBody>
      </p:sp>
      <p:sp>
        <p:nvSpPr>
          <p:cNvPr id="11" name="Étape détail 2"/>
          <p:cNvSpPr txBox="1"/>
          <p:nvPr/>
        </p:nvSpPr>
        <p:spPr>
          <a:xfrm>
            <a:off x="2818638" y="3566160"/>
            <a:ext cx="2148840" cy="822960"/>
          </a:xfrm>
          <a:prstGeom prst="rect">
            <a:avLst/>
          </a:prstGeom>
          <a:noFill/>
          <a:ln/>
        </p:spPr>
        <p:txBody>
          <a:bodyPr wrap="square" lIns="0" tIns="0" rIns="0" bIns="0" rtlCol="0" anchor="t"/>
          <a:lstStyle/>
          <a:p>
            <a:pPr algn="ctr" indent="0" marL="0">
              <a:buNone/>
            </a:pPr>
            <a:r>
              <a:rPr lang="en-US" sz="1400" dirty="0">
                <a:solidFill>
                  <a:schemeClr val="accent5"/>
                </a:solidFill>
              </a:rPr>
              <a:t>Le ML compare au comportement normal</a:t>
            </a:r>
            <a:endParaRPr lang="en-US" sz="1400" dirty="0"/>
          </a:p>
        </p:txBody>
      </p:sp>
      <p:sp>
        <p:nvSpPr>
          <p:cNvPr id="12" name="Flèche"/>
          <p:cNvSpPr/>
          <p:nvPr/>
        </p:nvSpPr>
        <p:spPr>
          <a:xfrm>
            <a:off x="4620006" y="2354580"/>
            <a:ext cx="747522" cy="914"/>
          </a:xfrm>
          <a:prstGeom prst="line">
            <a:avLst/>
          </a:prstGeom>
          <a:noFill/>
          <a:ln w="22225">
            <a:solidFill>
              <a:schemeClr val="tx1"/>
            </a:solidFill>
            <a:prstDash val="solid"/>
            <a:tailEnd type="triangle"/>
          </a:ln>
        </p:spPr>
      </p:sp>
      <p:sp>
        <p:nvSpPr>
          <p:cNvPr id="13" name="Étape 3"/>
          <p:cNvSpPr/>
          <p:nvPr/>
        </p:nvSpPr>
        <p:spPr>
          <a:xfrm>
            <a:off x="5477256" y="1737360"/>
            <a:ext cx="1234440" cy="1234440"/>
          </a:xfrm>
          <a:prstGeom prst="ellipse">
            <a:avLst/>
          </a:prstGeom>
          <a:solidFill>
            <a:schemeClr val="accent2"/>
          </a:solidFill>
          <a:ln w="12700">
            <a:solidFill>
              <a:schemeClr val="accent2"/>
            </a:solidFill>
            <a:prstDash val="solid"/>
          </a:ln>
        </p:spPr>
      </p:sp>
      <p:sp>
        <p:nvSpPr>
          <p:cNvPr id="14" name="Étape 3 texte"/>
          <p:cNvSpPr txBox="1"/>
          <p:nvPr/>
        </p:nvSpPr>
        <p:spPr>
          <a:xfrm>
            <a:off x="5477256" y="1737360"/>
            <a:ext cx="1234440" cy="1234440"/>
          </a:xfrm>
          <a:prstGeom prst="rect">
            <a:avLst/>
          </a:prstGeom>
          <a:noFill/>
          <a:ln/>
        </p:spPr>
        <p:txBody>
          <a:bodyPr wrap="square" lIns="0" tIns="0" rIns="0" bIns="0" rtlCol="0" anchor="ctr"/>
          <a:lstStyle/>
          <a:p>
            <a:pPr algn="ctr" indent="0" marL="0">
              <a:buNone/>
            </a:pPr>
            <a:r>
              <a:rPr lang="en-US" sz="3000" b="1" dirty="0">
                <a:solidFill>
                  <a:schemeClr val="tx1"/>
                </a:solidFill>
              </a:rPr>
              <a:t>3</a:t>
            </a:r>
            <a:endParaRPr lang="en-US" sz="3000" dirty="0"/>
          </a:p>
        </p:txBody>
      </p:sp>
      <p:sp>
        <p:nvSpPr>
          <p:cNvPr id="15" name="Étape titre 3"/>
          <p:cNvSpPr txBox="1"/>
          <p:nvPr/>
        </p:nvSpPr>
        <p:spPr>
          <a:xfrm>
            <a:off x="5020056" y="3108960"/>
            <a:ext cx="2148840" cy="457200"/>
          </a:xfrm>
          <a:prstGeom prst="rect">
            <a:avLst/>
          </a:prstGeom>
          <a:noFill/>
          <a:ln/>
        </p:spPr>
        <p:txBody>
          <a:bodyPr wrap="square" lIns="0" tIns="0" rIns="0" bIns="0" rtlCol="0" anchor="ctr"/>
          <a:lstStyle/>
          <a:p>
            <a:pPr algn="ctr" indent="0" marL="0">
              <a:buNone/>
            </a:pPr>
            <a:r>
              <a:rPr lang="en-US" sz="2000" b="1" dirty="0">
                <a:solidFill>
                  <a:schemeClr val="tx1"/>
                </a:solidFill>
              </a:rPr>
              <a:t>Décider</a:t>
            </a:r>
            <a:endParaRPr lang="en-US" sz="2000" dirty="0"/>
          </a:p>
        </p:txBody>
      </p:sp>
      <p:sp>
        <p:nvSpPr>
          <p:cNvPr id="16" name="Étape détail 3"/>
          <p:cNvSpPr txBox="1"/>
          <p:nvPr/>
        </p:nvSpPr>
        <p:spPr>
          <a:xfrm>
            <a:off x="5020056" y="3566160"/>
            <a:ext cx="2148840" cy="822960"/>
          </a:xfrm>
          <a:prstGeom prst="rect">
            <a:avLst/>
          </a:prstGeom>
          <a:noFill/>
          <a:ln/>
        </p:spPr>
        <p:txBody>
          <a:bodyPr wrap="square" lIns="0" tIns="0" rIns="0" bIns="0" rtlCol="0" anchor="t"/>
          <a:lstStyle/>
          <a:p>
            <a:pPr algn="ctr" indent="0" marL="0">
              <a:buNone/>
            </a:pPr>
            <a:r>
              <a:rPr lang="en-US" sz="1400" dirty="0">
                <a:solidFill>
                  <a:schemeClr val="accent5"/>
                </a:solidFill>
              </a:rPr>
              <a:t>Une politique écrite choisit les actions</a:t>
            </a:r>
            <a:endParaRPr lang="en-US" sz="1400" dirty="0"/>
          </a:p>
        </p:txBody>
      </p:sp>
      <p:sp>
        <p:nvSpPr>
          <p:cNvPr id="17" name="Flèche"/>
          <p:cNvSpPr/>
          <p:nvPr/>
        </p:nvSpPr>
        <p:spPr>
          <a:xfrm>
            <a:off x="6821424" y="2354580"/>
            <a:ext cx="747522" cy="914"/>
          </a:xfrm>
          <a:prstGeom prst="line">
            <a:avLst/>
          </a:prstGeom>
          <a:noFill/>
          <a:ln w="22225">
            <a:solidFill>
              <a:schemeClr val="tx1"/>
            </a:solidFill>
            <a:prstDash val="solid"/>
            <a:tailEnd type="triangle"/>
          </a:ln>
        </p:spPr>
      </p:sp>
      <p:sp>
        <p:nvSpPr>
          <p:cNvPr id="18" name="Étape 4"/>
          <p:cNvSpPr/>
          <p:nvPr/>
        </p:nvSpPr>
        <p:spPr>
          <a:xfrm>
            <a:off x="7678674" y="1737360"/>
            <a:ext cx="1234440" cy="1234440"/>
          </a:xfrm>
          <a:prstGeom prst="ellipse">
            <a:avLst/>
          </a:prstGeom>
          <a:solidFill>
            <a:schemeClr val="accent2"/>
          </a:solidFill>
          <a:ln w="12700">
            <a:solidFill>
              <a:schemeClr val="accent2"/>
            </a:solidFill>
            <a:prstDash val="solid"/>
          </a:ln>
        </p:spPr>
      </p:sp>
      <p:sp>
        <p:nvSpPr>
          <p:cNvPr id="19" name="Étape 4 texte"/>
          <p:cNvSpPr txBox="1"/>
          <p:nvPr/>
        </p:nvSpPr>
        <p:spPr>
          <a:xfrm>
            <a:off x="7678674" y="1737360"/>
            <a:ext cx="1234440" cy="1234440"/>
          </a:xfrm>
          <a:prstGeom prst="rect">
            <a:avLst/>
          </a:prstGeom>
          <a:noFill/>
          <a:ln/>
        </p:spPr>
        <p:txBody>
          <a:bodyPr wrap="square" lIns="0" tIns="0" rIns="0" bIns="0" rtlCol="0" anchor="ctr"/>
          <a:lstStyle/>
          <a:p>
            <a:pPr algn="ctr" indent="0" marL="0">
              <a:buNone/>
            </a:pPr>
            <a:r>
              <a:rPr lang="en-US" sz="3000" b="1" dirty="0">
                <a:solidFill>
                  <a:schemeClr val="tx1"/>
                </a:solidFill>
              </a:rPr>
              <a:t>4</a:t>
            </a:r>
            <a:endParaRPr lang="en-US" sz="3000" dirty="0"/>
          </a:p>
        </p:txBody>
      </p:sp>
      <p:sp>
        <p:nvSpPr>
          <p:cNvPr id="20" name="Étape titre 4"/>
          <p:cNvSpPr txBox="1"/>
          <p:nvPr/>
        </p:nvSpPr>
        <p:spPr>
          <a:xfrm>
            <a:off x="7221474" y="3108960"/>
            <a:ext cx="2148840" cy="457200"/>
          </a:xfrm>
          <a:prstGeom prst="rect">
            <a:avLst/>
          </a:prstGeom>
          <a:noFill/>
          <a:ln/>
        </p:spPr>
        <p:txBody>
          <a:bodyPr wrap="square" lIns="0" tIns="0" rIns="0" bIns="0" rtlCol="0" anchor="ctr"/>
          <a:lstStyle/>
          <a:p>
            <a:pPr algn="ctr" indent="0" marL="0">
              <a:buNone/>
            </a:pPr>
            <a:r>
              <a:rPr lang="en-US" sz="2000" b="1" dirty="0">
                <a:solidFill>
                  <a:schemeClr val="tx1"/>
                </a:solidFill>
              </a:rPr>
              <a:t>Agir</a:t>
            </a:r>
            <a:endParaRPr lang="en-US" sz="2000" dirty="0"/>
          </a:p>
        </p:txBody>
      </p:sp>
      <p:sp>
        <p:nvSpPr>
          <p:cNvPr id="21" name="Étape détail 4"/>
          <p:cNvSpPr txBox="1"/>
          <p:nvPr/>
        </p:nvSpPr>
        <p:spPr>
          <a:xfrm>
            <a:off x="7221474" y="3566160"/>
            <a:ext cx="2148840" cy="822960"/>
          </a:xfrm>
          <a:prstGeom prst="rect">
            <a:avLst/>
          </a:prstGeom>
          <a:noFill/>
          <a:ln/>
        </p:spPr>
        <p:txBody>
          <a:bodyPr wrap="square" lIns="0" tIns="0" rIns="0" bIns="0" rtlCol="0" anchor="t"/>
          <a:lstStyle/>
          <a:p>
            <a:pPr algn="ctr" indent="0" marL="0">
              <a:buNone/>
            </a:pPr>
            <a:r>
              <a:rPr lang="en-US" sz="1400" dirty="0">
                <a:solidFill>
                  <a:schemeClr val="accent5"/>
                </a:solidFill>
              </a:rPr>
              <a:t>Bloquer, redémarrer, restaurer</a:t>
            </a:r>
            <a:endParaRPr lang="en-US" sz="1400" dirty="0"/>
          </a:p>
        </p:txBody>
      </p:sp>
      <p:sp>
        <p:nvSpPr>
          <p:cNvPr id="22" name="Flèche"/>
          <p:cNvSpPr/>
          <p:nvPr/>
        </p:nvSpPr>
        <p:spPr>
          <a:xfrm>
            <a:off x="9022842" y="2354580"/>
            <a:ext cx="747522" cy="914"/>
          </a:xfrm>
          <a:prstGeom prst="line">
            <a:avLst/>
          </a:prstGeom>
          <a:noFill/>
          <a:ln w="22225">
            <a:solidFill>
              <a:schemeClr val="tx1"/>
            </a:solidFill>
            <a:prstDash val="solid"/>
            <a:tailEnd type="triangle"/>
          </a:ln>
        </p:spPr>
      </p:sp>
      <p:sp>
        <p:nvSpPr>
          <p:cNvPr id="23" name="Étape 5"/>
          <p:cNvSpPr/>
          <p:nvPr/>
        </p:nvSpPr>
        <p:spPr>
          <a:xfrm>
            <a:off x="9880092" y="1737360"/>
            <a:ext cx="1234440" cy="1234440"/>
          </a:xfrm>
          <a:prstGeom prst="ellipse">
            <a:avLst/>
          </a:prstGeom>
          <a:solidFill>
            <a:schemeClr val="tx1"/>
          </a:solidFill>
          <a:ln w="12700">
            <a:solidFill>
              <a:schemeClr val="tx1"/>
            </a:solidFill>
            <a:prstDash val="solid"/>
          </a:ln>
        </p:spPr>
      </p:sp>
      <p:sp>
        <p:nvSpPr>
          <p:cNvPr id="24" name="Étape 5 texte"/>
          <p:cNvSpPr txBox="1"/>
          <p:nvPr/>
        </p:nvSpPr>
        <p:spPr>
          <a:xfrm>
            <a:off x="9880092" y="1737360"/>
            <a:ext cx="1234440" cy="1234440"/>
          </a:xfrm>
          <a:prstGeom prst="rect">
            <a:avLst/>
          </a:prstGeom>
          <a:noFill/>
          <a:ln/>
        </p:spPr>
        <p:txBody>
          <a:bodyPr wrap="square" lIns="0" tIns="0" rIns="0" bIns="0" rtlCol="0" anchor="ctr"/>
          <a:lstStyle/>
          <a:p>
            <a:pPr algn="ctr" indent="0" marL="0">
              <a:buNone/>
            </a:pPr>
            <a:r>
              <a:rPr lang="en-US" sz="3000" b="1" dirty="0">
                <a:solidFill>
                  <a:schemeClr val="bg1"/>
                </a:solidFill>
              </a:rPr>
              <a:t>5</a:t>
            </a:r>
            <a:endParaRPr lang="en-US" sz="3000" dirty="0"/>
          </a:p>
        </p:txBody>
      </p:sp>
      <p:sp>
        <p:nvSpPr>
          <p:cNvPr id="25" name="Étape titre 5"/>
          <p:cNvSpPr txBox="1"/>
          <p:nvPr/>
        </p:nvSpPr>
        <p:spPr>
          <a:xfrm>
            <a:off x="9422892" y="3108960"/>
            <a:ext cx="2148840" cy="457200"/>
          </a:xfrm>
          <a:prstGeom prst="rect">
            <a:avLst/>
          </a:prstGeom>
          <a:noFill/>
          <a:ln/>
        </p:spPr>
        <p:txBody>
          <a:bodyPr wrap="square" lIns="0" tIns="0" rIns="0" bIns="0" rtlCol="0" anchor="ctr"/>
          <a:lstStyle/>
          <a:p>
            <a:pPr algn="ctr" indent="0" marL="0">
              <a:buNone/>
            </a:pPr>
            <a:r>
              <a:rPr lang="en-US" sz="2000" b="1" dirty="0">
                <a:solidFill>
                  <a:schemeClr val="tx1"/>
                </a:solidFill>
              </a:rPr>
              <a:t>Vérifier</a:t>
            </a:r>
            <a:endParaRPr lang="en-US" sz="2000" dirty="0"/>
          </a:p>
        </p:txBody>
      </p:sp>
      <p:sp>
        <p:nvSpPr>
          <p:cNvPr id="26" name="Étape détail 5"/>
          <p:cNvSpPr txBox="1"/>
          <p:nvPr/>
        </p:nvSpPr>
        <p:spPr>
          <a:xfrm>
            <a:off x="9422892" y="3566160"/>
            <a:ext cx="2148840" cy="822960"/>
          </a:xfrm>
          <a:prstGeom prst="rect">
            <a:avLst/>
          </a:prstGeom>
          <a:noFill/>
          <a:ln/>
        </p:spPr>
        <p:txBody>
          <a:bodyPr wrap="square" lIns="0" tIns="0" rIns="0" bIns="0" rtlCol="0" anchor="t"/>
          <a:lstStyle/>
          <a:p>
            <a:pPr algn="ctr" indent="0" marL="0">
              <a:buNone/>
            </a:pPr>
            <a:r>
              <a:rPr lang="en-US" sz="1400" dirty="0">
                <a:solidFill>
                  <a:schemeClr val="accent5"/>
                </a:solidFill>
              </a:rPr>
              <a:t>Un vrai virement doit réussir</a:t>
            </a:r>
            <a:endParaRPr lang="en-US" sz="1400" dirty="0"/>
          </a:p>
        </p:txBody>
      </p:sp>
      <p:sp>
        <p:nvSpPr>
          <p:cNvPr id="27" name="Encadré principe"/>
          <p:cNvSpPr/>
          <p:nvPr/>
        </p:nvSpPr>
        <p:spPr>
          <a:xfrm>
            <a:off x="548640" y="4800600"/>
            <a:ext cx="11064240" cy="1143000"/>
          </a:xfrm>
          <a:prstGeom prst="roundRect">
            <a:avLst>
              <a:gd name="adj" fmla="val 9600"/>
            </a:avLst>
          </a:prstGeom>
          <a:solidFill>
            <a:schemeClr val="bg2"/>
          </a:solidFill>
          <a:ln w="12700">
            <a:solidFill>
              <a:schemeClr val="bg2"/>
            </a:solidFill>
            <a:prstDash val="solid"/>
          </a:ln>
        </p:spPr>
      </p:sp>
      <p:sp>
        <p:nvSpPr>
          <p:cNvPr id="28" name="Texte principe"/>
          <p:cNvSpPr txBox="1"/>
          <p:nvPr/>
        </p:nvSpPr>
        <p:spPr>
          <a:xfrm>
            <a:off x="868680" y="4800600"/>
            <a:ext cx="10424160" cy="1143000"/>
          </a:xfrm>
          <a:prstGeom prst="rect">
            <a:avLst/>
          </a:prstGeom>
          <a:noFill/>
          <a:ln/>
        </p:spPr>
        <p:txBody>
          <a:bodyPr wrap="square" lIns="0" tIns="0" rIns="0" bIns="0" rtlCol="0" anchor="ctr"/>
          <a:lstStyle/>
          <a:p>
            <a:pPr indent="0" marL="0">
              <a:buNone/>
            </a:pPr>
            <a:r>
              <a:rPr lang="en-US" sz="1600" b="1" dirty="0">
                <a:solidFill>
                  <a:schemeClr val="tx1"/>
                </a:solidFill>
              </a:rPr>
              <a:t>L'IA détecte, mais ne décide pas. </a:t>
            </a:r>
            <a:pPr indent="0" marL="0">
              <a:buNone/>
            </a:pPr>
            <a:r>
              <a:rPr lang="en-US" sz="1600" dirty="0">
                <a:solidFill>
                  <a:schemeClr val="tx1"/>
                </a:solidFill>
              </a:rPr>
              <a:t>Les actions viennent d'une politique fixe, testée et auditable. Si la vérification échoue, un plan de repli prend le relais ; l'incident n'est clos qu'après un virement réussi.</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8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Une vingtaine de conteneurs sur le PC Hôte</a:t>
            </a:r>
            <a:endParaRPr lang="en-US" sz="3400" dirty="0"/>
          </a:p>
        </p:txBody>
      </p:sp>
      <p:sp>
        <p:nvSpPr>
          <p:cNvPr id="3" name="Bloc PC Attaquant"/>
          <p:cNvSpPr/>
          <p:nvPr/>
        </p:nvSpPr>
        <p:spPr>
          <a:xfrm>
            <a:off x="548640" y="1600200"/>
            <a:ext cx="1554480" cy="868680"/>
          </a:xfrm>
          <a:prstGeom prst="roundRect">
            <a:avLst>
              <a:gd name="adj" fmla="val 8421"/>
            </a:avLst>
          </a:prstGeom>
          <a:solidFill>
            <a:schemeClr val="tx1"/>
          </a:solidFill>
          <a:ln w="12700">
            <a:solidFill>
              <a:schemeClr val="tx1"/>
            </a:solidFill>
            <a:prstDash val="solid"/>
          </a:ln>
        </p:spPr>
      </p:sp>
      <p:sp>
        <p:nvSpPr>
          <p:cNvPr id="4" name="Texte PC Attaquant"/>
          <p:cNvSpPr txBox="1"/>
          <p:nvPr/>
        </p:nvSpPr>
        <p:spPr>
          <a:xfrm>
            <a:off x="548640" y="1600200"/>
            <a:ext cx="1554480" cy="868680"/>
          </a:xfrm>
          <a:prstGeom prst="rect">
            <a:avLst/>
          </a:prstGeom>
          <a:noFill/>
          <a:ln/>
        </p:spPr>
        <p:txBody>
          <a:bodyPr wrap="square" lIns="25400" tIns="25400" rIns="25400" bIns="25400" rtlCol="0" anchor="ctr"/>
          <a:lstStyle/>
          <a:p>
            <a:pPr algn="ctr" indent="0" marL="0">
              <a:buNone/>
            </a:pPr>
            <a:r>
              <a:rPr lang="en-US" sz="1400" b="1" dirty="0">
                <a:solidFill>
                  <a:schemeClr val="bg1"/>
                </a:solidFill>
              </a:rPr>
              <a:t>PC Attaquant</a:t>
            </a:r>
            <a:endParaRPr lang="en-US" sz="1400" dirty="0"/>
          </a:p>
          <a:p>
            <a:pPr algn="ctr" indent="0" marL="0">
              <a:buNone/>
            </a:pPr>
            <a:r>
              <a:rPr lang="en-US" sz="1100" i="1" dirty="0">
                <a:solidFill>
                  <a:schemeClr val="accent2"/>
                </a:solidFill>
              </a:rPr>
              <a:t>scripts Red Team → 443</a:t>
            </a:r>
            <a:endParaRPr lang="en-US" sz="1400" dirty="0"/>
          </a:p>
        </p:txBody>
      </p:sp>
      <p:sp>
        <p:nvSpPr>
          <p:cNvPr id="5" name="Bloc WAF"/>
          <p:cNvSpPr/>
          <p:nvPr/>
        </p:nvSpPr>
        <p:spPr>
          <a:xfrm>
            <a:off x="2743200" y="1600200"/>
            <a:ext cx="1554480" cy="868680"/>
          </a:xfrm>
          <a:prstGeom prst="roundRect">
            <a:avLst>
              <a:gd name="adj" fmla="val 8421"/>
            </a:avLst>
          </a:prstGeom>
          <a:solidFill>
            <a:schemeClr val="accent2"/>
          </a:solidFill>
          <a:ln w="12700">
            <a:solidFill>
              <a:schemeClr val="tx1"/>
            </a:solidFill>
            <a:prstDash val="solid"/>
          </a:ln>
        </p:spPr>
      </p:sp>
      <p:sp>
        <p:nvSpPr>
          <p:cNvPr id="6" name="Texte WAF"/>
          <p:cNvSpPr txBox="1"/>
          <p:nvPr/>
        </p:nvSpPr>
        <p:spPr>
          <a:xfrm>
            <a:off x="2743200" y="1600200"/>
            <a:ext cx="1554480" cy="868680"/>
          </a:xfrm>
          <a:prstGeom prst="rect">
            <a:avLst/>
          </a:prstGeom>
          <a:noFill/>
          <a:ln/>
        </p:spPr>
        <p:txBody>
          <a:bodyPr wrap="square" lIns="25400" tIns="25400" rIns="25400" bIns="25400" rtlCol="0" anchor="ctr"/>
          <a:lstStyle/>
          <a:p>
            <a:pPr algn="ctr" indent="0" marL="0">
              <a:buNone/>
            </a:pPr>
            <a:r>
              <a:rPr lang="en-US" sz="1400" b="1" dirty="0">
                <a:solidFill>
                  <a:schemeClr val="tx1"/>
                </a:solidFill>
              </a:rPr>
              <a:t>WAF</a:t>
            </a:r>
            <a:endParaRPr lang="en-US" sz="1400" dirty="0"/>
          </a:p>
          <a:p>
            <a:pPr algn="ctr" indent="0" marL="0">
              <a:buNone/>
            </a:pPr>
            <a:r>
              <a:rPr lang="en-US" sz="1100" i="1" dirty="0">
                <a:solidFill>
                  <a:schemeClr val="accent5"/>
                </a:solidFill>
              </a:rPr>
              <a:t>ModSecurity + CRS</a:t>
            </a:r>
            <a:endParaRPr lang="en-US" sz="1400" dirty="0"/>
          </a:p>
        </p:txBody>
      </p:sp>
      <p:sp>
        <p:nvSpPr>
          <p:cNvPr id="7" name="Bloc front"/>
          <p:cNvSpPr/>
          <p:nvPr/>
        </p:nvSpPr>
        <p:spPr>
          <a:xfrm>
            <a:off x="4937760" y="1188720"/>
            <a:ext cx="1920240" cy="502920"/>
          </a:xfrm>
          <a:prstGeom prst="roundRect">
            <a:avLst>
              <a:gd name="adj" fmla="val 14545"/>
            </a:avLst>
          </a:prstGeom>
          <a:solidFill>
            <a:schemeClr val="bg1"/>
          </a:solidFill>
          <a:ln w="12700">
            <a:solidFill>
              <a:schemeClr val="tx1"/>
            </a:solidFill>
            <a:prstDash val="solid"/>
          </a:ln>
        </p:spPr>
      </p:sp>
      <p:sp>
        <p:nvSpPr>
          <p:cNvPr id="8" name="Texte front"/>
          <p:cNvSpPr txBox="1"/>
          <p:nvPr/>
        </p:nvSpPr>
        <p:spPr>
          <a:xfrm>
            <a:off x="4937760" y="1188720"/>
            <a:ext cx="1920240" cy="502920"/>
          </a:xfrm>
          <a:prstGeom prst="rect">
            <a:avLst/>
          </a:prstGeom>
          <a:noFill/>
          <a:ln/>
        </p:spPr>
        <p:txBody>
          <a:bodyPr wrap="square" lIns="25400" tIns="25400" rIns="25400" bIns="25400" rtlCol="0" anchor="ctr"/>
          <a:lstStyle/>
          <a:p>
            <a:pPr algn="ctr" indent="0" marL="0">
              <a:buNone/>
            </a:pPr>
            <a:r>
              <a:rPr lang="en-US" sz="1300" b="1" dirty="0">
                <a:solidFill>
                  <a:schemeClr val="tx1"/>
                </a:solidFill>
              </a:rPr>
              <a:t>front</a:t>
            </a:r>
            <a:endParaRPr lang="en-US" sz="1300" dirty="0"/>
          </a:p>
        </p:txBody>
      </p:sp>
      <p:sp>
        <p:nvSpPr>
          <p:cNvPr id="9" name="Bloc auth-service"/>
          <p:cNvSpPr/>
          <p:nvPr/>
        </p:nvSpPr>
        <p:spPr>
          <a:xfrm>
            <a:off x="4937760" y="1783080"/>
            <a:ext cx="1920240" cy="502920"/>
          </a:xfrm>
          <a:prstGeom prst="roundRect">
            <a:avLst>
              <a:gd name="adj" fmla="val 14545"/>
            </a:avLst>
          </a:prstGeom>
          <a:solidFill>
            <a:schemeClr val="bg1"/>
          </a:solidFill>
          <a:ln w="12700">
            <a:solidFill>
              <a:schemeClr val="tx1"/>
            </a:solidFill>
            <a:prstDash val="solid"/>
          </a:ln>
        </p:spPr>
      </p:sp>
      <p:sp>
        <p:nvSpPr>
          <p:cNvPr id="10" name="Texte auth-service"/>
          <p:cNvSpPr txBox="1"/>
          <p:nvPr/>
        </p:nvSpPr>
        <p:spPr>
          <a:xfrm>
            <a:off x="4937760" y="1783080"/>
            <a:ext cx="1920240" cy="502920"/>
          </a:xfrm>
          <a:prstGeom prst="rect">
            <a:avLst/>
          </a:prstGeom>
          <a:noFill/>
          <a:ln/>
        </p:spPr>
        <p:txBody>
          <a:bodyPr wrap="square" lIns="25400" tIns="25400" rIns="25400" bIns="25400" rtlCol="0" anchor="ctr"/>
          <a:lstStyle/>
          <a:p>
            <a:pPr algn="ctr" indent="0" marL="0">
              <a:buNone/>
            </a:pPr>
            <a:r>
              <a:rPr lang="en-US" sz="1300" b="1" dirty="0">
                <a:solidFill>
                  <a:schemeClr val="tx1"/>
                </a:solidFill>
              </a:rPr>
              <a:t>auth-service</a:t>
            </a:r>
            <a:endParaRPr lang="en-US" sz="1300" dirty="0"/>
          </a:p>
        </p:txBody>
      </p:sp>
      <p:sp>
        <p:nvSpPr>
          <p:cNvPr id="11" name="Bloc payment-service"/>
          <p:cNvSpPr/>
          <p:nvPr/>
        </p:nvSpPr>
        <p:spPr>
          <a:xfrm>
            <a:off x="4937760" y="2377440"/>
            <a:ext cx="1920240" cy="502920"/>
          </a:xfrm>
          <a:prstGeom prst="roundRect">
            <a:avLst>
              <a:gd name="adj" fmla="val 14545"/>
            </a:avLst>
          </a:prstGeom>
          <a:solidFill>
            <a:schemeClr val="bg1"/>
          </a:solidFill>
          <a:ln w="12700">
            <a:solidFill>
              <a:schemeClr val="tx1"/>
            </a:solidFill>
            <a:prstDash val="solid"/>
          </a:ln>
        </p:spPr>
      </p:sp>
      <p:sp>
        <p:nvSpPr>
          <p:cNvPr id="12" name="Texte payment-service"/>
          <p:cNvSpPr txBox="1"/>
          <p:nvPr/>
        </p:nvSpPr>
        <p:spPr>
          <a:xfrm>
            <a:off x="4937760" y="2377440"/>
            <a:ext cx="1920240" cy="502920"/>
          </a:xfrm>
          <a:prstGeom prst="rect">
            <a:avLst/>
          </a:prstGeom>
          <a:noFill/>
          <a:ln/>
        </p:spPr>
        <p:txBody>
          <a:bodyPr wrap="square" lIns="25400" tIns="25400" rIns="25400" bIns="25400" rtlCol="0" anchor="ctr"/>
          <a:lstStyle/>
          <a:p>
            <a:pPr algn="ctr" indent="0" marL="0">
              <a:buNone/>
            </a:pPr>
            <a:r>
              <a:rPr lang="en-US" sz="1300" b="1" dirty="0">
                <a:solidFill>
                  <a:schemeClr val="tx1"/>
                </a:solidFill>
              </a:rPr>
              <a:t>payment-service</a:t>
            </a:r>
            <a:endParaRPr lang="en-US" sz="1300" dirty="0"/>
          </a:p>
        </p:txBody>
      </p:sp>
      <p:sp>
        <p:nvSpPr>
          <p:cNvPr id="13" name="Bloc PostgreSQL"/>
          <p:cNvSpPr/>
          <p:nvPr/>
        </p:nvSpPr>
        <p:spPr>
          <a:xfrm>
            <a:off x="7498080" y="1600200"/>
            <a:ext cx="1554480" cy="868680"/>
          </a:xfrm>
          <a:prstGeom prst="roundRect">
            <a:avLst>
              <a:gd name="adj" fmla="val 8421"/>
            </a:avLst>
          </a:prstGeom>
          <a:solidFill>
            <a:schemeClr val="bg1"/>
          </a:solidFill>
          <a:ln w="12700">
            <a:solidFill>
              <a:schemeClr val="tx1"/>
            </a:solidFill>
            <a:prstDash val="solid"/>
          </a:ln>
        </p:spPr>
      </p:sp>
      <p:sp>
        <p:nvSpPr>
          <p:cNvPr id="14" name="Texte PostgreSQL"/>
          <p:cNvSpPr txBox="1"/>
          <p:nvPr/>
        </p:nvSpPr>
        <p:spPr>
          <a:xfrm>
            <a:off x="7498080" y="1600200"/>
            <a:ext cx="1554480" cy="868680"/>
          </a:xfrm>
          <a:prstGeom prst="rect">
            <a:avLst/>
          </a:prstGeom>
          <a:noFill/>
          <a:ln/>
        </p:spPr>
        <p:txBody>
          <a:bodyPr wrap="square" lIns="25400" tIns="25400" rIns="25400" bIns="25400" rtlCol="0" anchor="ctr"/>
          <a:lstStyle/>
          <a:p>
            <a:pPr algn="ctr" indent="0" marL="0">
              <a:buNone/>
            </a:pPr>
            <a:r>
              <a:rPr lang="en-US" sz="1400" b="1" dirty="0">
                <a:solidFill>
                  <a:schemeClr val="tx1"/>
                </a:solidFill>
              </a:rPr>
              <a:t>PostgreSQL</a:t>
            </a:r>
            <a:endParaRPr lang="en-US" sz="1400" dirty="0"/>
          </a:p>
          <a:p>
            <a:pPr algn="ctr" indent="0" marL="0">
              <a:buNone/>
            </a:pPr>
            <a:r>
              <a:rPr lang="en-US" sz="1100" i="1" dirty="0">
                <a:solidFill>
                  <a:schemeClr val="accent5"/>
                </a:solidFill>
              </a:rPr>
              <a:t>+ sauvegardes</a:t>
            </a:r>
            <a:endParaRPr lang="en-US" sz="1400" dirty="0"/>
          </a:p>
        </p:txBody>
      </p:sp>
      <p:sp>
        <p:nvSpPr>
          <p:cNvPr id="15" name="Flèche"/>
          <p:cNvSpPr/>
          <p:nvPr/>
        </p:nvSpPr>
        <p:spPr>
          <a:xfrm>
            <a:off x="2103120" y="2029968"/>
            <a:ext cx="640080" cy="914"/>
          </a:xfrm>
          <a:prstGeom prst="line">
            <a:avLst/>
          </a:prstGeom>
          <a:noFill/>
          <a:ln w="22225">
            <a:solidFill>
              <a:schemeClr val="tx1"/>
            </a:solidFill>
            <a:prstDash val="solid"/>
            <a:tailEnd type="triangle"/>
          </a:ln>
        </p:spPr>
      </p:sp>
      <p:sp>
        <p:nvSpPr>
          <p:cNvPr id="16" name="Flèche"/>
          <p:cNvSpPr/>
          <p:nvPr/>
        </p:nvSpPr>
        <p:spPr>
          <a:xfrm flipV="1">
            <a:off x="4297680" y="1444752"/>
            <a:ext cx="640080" cy="585216"/>
          </a:xfrm>
          <a:prstGeom prst="line">
            <a:avLst/>
          </a:prstGeom>
          <a:noFill/>
          <a:ln w="22225">
            <a:solidFill>
              <a:schemeClr val="tx1"/>
            </a:solidFill>
            <a:prstDash val="solid"/>
            <a:tailEnd type="triangle"/>
          </a:ln>
        </p:spPr>
      </p:sp>
      <p:sp>
        <p:nvSpPr>
          <p:cNvPr id="17" name="Flèche"/>
          <p:cNvSpPr/>
          <p:nvPr/>
        </p:nvSpPr>
        <p:spPr>
          <a:xfrm>
            <a:off x="4297680" y="2029968"/>
            <a:ext cx="640080" cy="914"/>
          </a:xfrm>
          <a:prstGeom prst="line">
            <a:avLst/>
          </a:prstGeom>
          <a:noFill/>
          <a:ln w="22225">
            <a:solidFill>
              <a:schemeClr val="tx1"/>
            </a:solidFill>
            <a:prstDash val="solid"/>
            <a:tailEnd type="triangle"/>
          </a:ln>
        </p:spPr>
      </p:sp>
      <p:sp>
        <p:nvSpPr>
          <p:cNvPr id="18" name="Flèche"/>
          <p:cNvSpPr/>
          <p:nvPr/>
        </p:nvSpPr>
        <p:spPr>
          <a:xfrm>
            <a:off x="4297680" y="2029968"/>
            <a:ext cx="640080" cy="594360"/>
          </a:xfrm>
          <a:prstGeom prst="line">
            <a:avLst/>
          </a:prstGeom>
          <a:noFill/>
          <a:ln w="22225">
            <a:solidFill>
              <a:schemeClr val="tx1"/>
            </a:solidFill>
            <a:prstDash val="solid"/>
            <a:tailEnd type="triangle"/>
          </a:ln>
        </p:spPr>
      </p:sp>
      <p:sp>
        <p:nvSpPr>
          <p:cNvPr id="19" name="Flèche"/>
          <p:cNvSpPr/>
          <p:nvPr/>
        </p:nvSpPr>
        <p:spPr>
          <a:xfrm>
            <a:off x="6858000" y="2029968"/>
            <a:ext cx="640080" cy="914"/>
          </a:xfrm>
          <a:prstGeom prst="line">
            <a:avLst/>
          </a:prstGeom>
          <a:noFill/>
          <a:ln w="22225">
            <a:solidFill>
              <a:schemeClr val="tx1"/>
            </a:solidFill>
            <a:prstDash val="solid"/>
            <a:tailEnd type="triangle"/>
          </a:ln>
        </p:spPr>
      </p:sp>
      <p:sp>
        <p:nvSpPr>
          <p:cNvPr id="20" name="Bloc Observabilité"/>
          <p:cNvSpPr/>
          <p:nvPr/>
        </p:nvSpPr>
        <p:spPr>
          <a:xfrm>
            <a:off x="548640" y="3931920"/>
            <a:ext cx="2194560" cy="868680"/>
          </a:xfrm>
          <a:prstGeom prst="roundRect">
            <a:avLst>
              <a:gd name="adj" fmla="val 8421"/>
            </a:avLst>
          </a:prstGeom>
          <a:solidFill>
            <a:schemeClr val="bg1"/>
          </a:solidFill>
          <a:ln w="12700">
            <a:solidFill>
              <a:schemeClr val="tx1"/>
            </a:solidFill>
            <a:prstDash val="solid"/>
          </a:ln>
        </p:spPr>
      </p:sp>
      <p:sp>
        <p:nvSpPr>
          <p:cNvPr id="21" name="Texte Observabilité"/>
          <p:cNvSpPr txBox="1"/>
          <p:nvPr/>
        </p:nvSpPr>
        <p:spPr>
          <a:xfrm>
            <a:off x="548640" y="3931920"/>
            <a:ext cx="2194560" cy="868680"/>
          </a:xfrm>
          <a:prstGeom prst="rect">
            <a:avLst/>
          </a:prstGeom>
          <a:noFill/>
          <a:ln/>
        </p:spPr>
        <p:txBody>
          <a:bodyPr wrap="square" lIns="25400" tIns="25400" rIns="25400" bIns="25400" rtlCol="0" anchor="ctr"/>
          <a:lstStyle/>
          <a:p>
            <a:pPr algn="ctr" indent="0" marL="0">
              <a:buNone/>
            </a:pPr>
            <a:r>
              <a:rPr lang="en-US" sz="1400" b="1" dirty="0">
                <a:solidFill>
                  <a:schemeClr val="tx1"/>
                </a:solidFill>
              </a:rPr>
              <a:t>Observabilité</a:t>
            </a:r>
            <a:endParaRPr lang="en-US" sz="1400" dirty="0"/>
          </a:p>
          <a:p>
            <a:pPr algn="ctr" indent="0" marL="0">
              <a:buNone/>
            </a:pPr>
            <a:r>
              <a:rPr lang="en-US" sz="1100" i="1" dirty="0">
                <a:solidFill>
                  <a:schemeClr val="accent5"/>
                </a:solidFill>
              </a:rPr>
              <a:t>Prometheus · Loki · SIEM</a:t>
            </a:r>
            <a:endParaRPr lang="en-US" sz="1400" dirty="0"/>
          </a:p>
        </p:txBody>
      </p:sp>
      <p:sp>
        <p:nvSpPr>
          <p:cNvPr id="22" name="Bloc ml-detector"/>
          <p:cNvSpPr/>
          <p:nvPr/>
        </p:nvSpPr>
        <p:spPr>
          <a:xfrm>
            <a:off x="3383280" y="3931920"/>
            <a:ext cx="2011680" cy="868680"/>
          </a:xfrm>
          <a:prstGeom prst="roundRect">
            <a:avLst>
              <a:gd name="adj" fmla="val 8421"/>
            </a:avLst>
          </a:prstGeom>
          <a:solidFill>
            <a:schemeClr val="accent2"/>
          </a:solidFill>
          <a:ln w="12700">
            <a:solidFill>
              <a:schemeClr val="tx1"/>
            </a:solidFill>
            <a:prstDash val="solid"/>
          </a:ln>
        </p:spPr>
      </p:sp>
      <p:sp>
        <p:nvSpPr>
          <p:cNvPr id="23" name="Texte ml-detector"/>
          <p:cNvSpPr txBox="1"/>
          <p:nvPr/>
        </p:nvSpPr>
        <p:spPr>
          <a:xfrm>
            <a:off x="3383280" y="3931920"/>
            <a:ext cx="2011680" cy="868680"/>
          </a:xfrm>
          <a:prstGeom prst="rect">
            <a:avLst/>
          </a:prstGeom>
          <a:noFill/>
          <a:ln/>
        </p:spPr>
        <p:txBody>
          <a:bodyPr wrap="square" lIns="25400" tIns="25400" rIns="25400" bIns="25400" rtlCol="0" anchor="ctr"/>
          <a:lstStyle/>
          <a:p>
            <a:pPr algn="ctr" indent="0" marL="0">
              <a:buNone/>
            </a:pPr>
            <a:r>
              <a:rPr lang="en-US" sz="1400" b="1" dirty="0">
                <a:solidFill>
                  <a:schemeClr val="tx1"/>
                </a:solidFill>
              </a:rPr>
              <a:t>ml-detector</a:t>
            </a:r>
            <a:endParaRPr lang="en-US" sz="1400" dirty="0"/>
          </a:p>
          <a:p>
            <a:pPr algn="ctr" indent="0" marL="0">
              <a:buNone/>
            </a:pPr>
            <a:r>
              <a:rPr lang="en-US" sz="1100" i="1" dirty="0">
                <a:solidFill>
                  <a:schemeClr val="accent5"/>
                </a:solidFill>
              </a:rPr>
              <a:t>19 indicateurs / 5 s</a:t>
            </a:r>
            <a:endParaRPr lang="en-US" sz="1400" dirty="0"/>
          </a:p>
        </p:txBody>
      </p:sp>
      <p:sp>
        <p:nvSpPr>
          <p:cNvPr id="24" name="Bloc remediation-engine"/>
          <p:cNvSpPr/>
          <p:nvPr/>
        </p:nvSpPr>
        <p:spPr>
          <a:xfrm>
            <a:off x="6035040" y="3931920"/>
            <a:ext cx="2194560" cy="868680"/>
          </a:xfrm>
          <a:prstGeom prst="roundRect">
            <a:avLst>
              <a:gd name="adj" fmla="val 8421"/>
            </a:avLst>
          </a:prstGeom>
          <a:solidFill>
            <a:schemeClr val="accent2"/>
          </a:solidFill>
          <a:ln w="12700">
            <a:solidFill>
              <a:schemeClr val="tx1"/>
            </a:solidFill>
            <a:prstDash val="solid"/>
          </a:ln>
        </p:spPr>
      </p:sp>
      <p:sp>
        <p:nvSpPr>
          <p:cNvPr id="25" name="Texte remediation-engine"/>
          <p:cNvSpPr txBox="1"/>
          <p:nvPr/>
        </p:nvSpPr>
        <p:spPr>
          <a:xfrm>
            <a:off x="6035040" y="3931920"/>
            <a:ext cx="2194560" cy="868680"/>
          </a:xfrm>
          <a:prstGeom prst="rect">
            <a:avLst/>
          </a:prstGeom>
          <a:noFill/>
          <a:ln/>
        </p:spPr>
        <p:txBody>
          <a:bodyPr wrap="square" lIns="25400" tIns="25400" rIns="25400" bIns="25400" rtlCol="0" anchor="ctr"/>
          <a:lstStyle/>
          <a:p>
            <a:pPr algn="ctr" indent="0" marL="0">
              <a:buNone/>
            </a:pPr>
            <a:r>
              <a:rPr lang="en-US" sz="1400" b="1" dirty="0">
                <a:solidFill>
                  <a:schemeClr val="tx1"/>
                </a:solidFill>
              </a:rPr>
              <a:t>remediation-engine</a:t>
            </a:r>
            <a:endParaRPr lang="en-US" sz="1400" dirty="0"/>
          </a:p>
          <a:p>
            <a:pPr algn="ctr" indent="0" marL="0">
              <a:buNone/>
            </a:pPr>
            <a:r>
              <a:rPr lang="en-US" sz="1100" i="1" dirty="0">
                <a:solidFill>
                  <a:schemeClr val="accent5"/>
                </a:solidFill>
              </a:rPr>
              <a:t>politique YAML</a:t>
            </a:r>
            <a:endParaRPr lang="en-US" sz="1400" dirty="0"/>
          </a:p>
        </p:txBody>
      </p:sp>
      <p:sp>
        <p:nvSpPr>
          <p:cNvPr id="26" name="Flèche"/>
          <p:cNvSpPr/>
          <p:nvPr/>
        </p:nvSpPr>
        <p:spPr>
          <a:xfrm>
            <a:off x="2743200" y="4361688"/>
            <a:ext cx="640080" cy="914"/>
          </a:xfrm>
          <a:prstGeom prst="line">
            <a:avLst/>
          </a:prstGeom>
          <a:noFill/>
          <a:ln w="22225">
            <a:solidFill>
              <a:schemeClr val="tx1"/>
            </a:solidFill>
            <a:prstDash val="solid"/>
            <a:tailEnd type="triangle"/>
          </a:ln>
        </p:spPr>
      </p:sp>
      <p:sp>
        <p:nvSpPr>
          <p:cNvPr id="27" name="Flèche"/>
          <p:cNvSpPr/>
          <p:nvPr/>
        </p:nvSpPr>
        <p:spPr>
          <a:xfrm>
            <a:off x="5394960" y="4361688"/>
            <a:ext cx="640080" cy="914"/>
          </a:xfrm>
          <a:prstGeom prst="line">
            <a:avLst/>
          </a:prstGeom>
          <a:noFill/>
          <a:ln w="22225">
            <a:solidFill>
              <a:schemeClr val="tx1"/>
            </a:solidFill>
            <a:prstDash val="solid"/>
            <a:tailEnd type="triangle"/>
          </a:ln>
        </p:spPr>
      </p:sp>
      <p:sp>
        <p:nvSpPr>
          <p:cNvPr id="28" name="Flèche"/>
          <p:cNvSpPr/>
          <p:nvPr/>
        </p:nvSpPr>
        <p:spPr>
          <a:xfrm flipH="1">
            <a:off x="1645920" y="2926080"/>
            <a:ext cx="4251960" cy="1005840"/>
          </a:xfrm>
          <a:prstGeom prst="line">
            <a:avLst/>
          </a:prstGeom>
          <a:noFill/>
          <a:ln w="22225">
            <a:solidFill>
              <a:schemeClr val="accent5"/>
            </a:solidFill>
            <a:prstDash val="dash"/>
            <a:tailEnd type="triangle"/>
          </a:ln>
        </p:spPr>
      </p:sp>
      <p:sp>
        <p:nvSpPr>
          <p:cNvPr id="29" name="Flèche"/>
          <p:cNvSpPr/>
          <p:nvPr/>
        </p:nvSpPr>
        <p:spPr>
          <a:xfrm flipH="1" flipV="1">
            <a:off x="3520440" y="2468880"/>
            <a:ext cx="3611880" cy="1463040"/>
          </a:xfrm>
          <a:prstGeom prst="line">
            <a:avLst/>
          </a:prstGeom>
          <a:noFill/>
          <a:ln w="22225">
            <a:solidFill>
              <a:schemeClr val="accent1"/>
            </a:solidFill>
            <a:prstDash val="solid"/>
            <a:tailEnd type="triangle"/>
          </a:ln>
        </p:spPr>
      </p:sp>
      <p:sp>
        <p:nvSpPr>
          <p:cNvPr id="30" name="Flèche"/>
          <p:cNvSpPr/>
          <p:nvPr/>
        </p:nvSpPr>
        <p:spPr>
          <a:xfrm flipV="1">
            <a:off x="7863840" y="2468880"/>
            <a:ext cx="411480" cy="1463040"/>
          </a:xfrm>
          <a:prstGeom prst="line">
            <a:avLst/>
          </a:prstGeom>
          <a:noFill/>
          <a:ln w="22225">
            <a:solidFill>
              <a:schemeClr val="accent1"/>
            </a:solidFill>
            <a:prstDash val="solid"/>
            <a:tailEnd type="triangle"/>
          </a:ln>
        </p:spPr>
      </p:sp>
      <p:sp>
        <p:nvSpPr>
          <p:cNvPr id="31" name="Étiquette actions"/>
          <p:cNvSpPr txBox="1"/>
          <p:nvPr/>
        </p:nvSpPr>
        <p:spPr>
          <a:xfrm>
            <a:off x="5760720" y="4892040"/>
            <a:ext cx="2926080" cy="320040"/>
          </a:xfrm>
          <a:prstGeom prst="rect">
            <a:avLst/>
          </a:prstGeom>
          <a:noFill/>
          <a:ln/>
        </p:spPr>
        <p:txBody>
          <a:bodyPr wrap="square" lIns="0" tIns="0" rIns="0" bIns="0" rtlCol="0" anchor="ctr"/>
          <a:lstStyle/>
          <a:p>
            <a:pPr indent="0" marL="0">
              <a:buNone/>
            </a:pPr>
            <a:r>
              <a:rPr lang="en-US" sz="1200" i="1" dirty="0">
                <a:solidFill>
                  <a:schemeClr val="accent1"/>
                </a:solidFill>
              </a:rPr>
              <a:t>actions : bloquer · redémarrer · restaurer</a:t>
            </a:r>
            <a:endParaRPr lang="en-US" sz="1200" dirty="0"/>
          </a:p>
        </p:txBody>
      </p:sp>
      <p:sp>
        <p:nvSpPr>
          <p:cNvPr id="32" name="Texte vérification"/>
          <p:cNvSpPr txBox="1"/>
          <p:nvPr/>
        </p:nvSpPr>
        <p:spPr>
          <a:xfrm>
            <a:off x="548640" y="5394960"/>
            <a:ext cx="8229600" cy="548640"/>
          </a:xfrm>
          <a:prstGeom prst="rect">
            <a:avLst/>
          </a:prstGeom>
          <a:noFill/>
          <a:ln/>
        </p:spPr>
        <p:txBody>
          <a:bodyPr wrap="square" lIns="0" tIns="0" rIns="0" bIns="0" rtlCol="0" anchor="ctr"/>
          <a:lstStyle/>
          <a:p>
            <a:pPr indent="0" marL="0">
              <a:buNone/>
            </a:pPr>
            <a:r>
              <a:rPr lang="en-US" sz="1400" b="1" dirty="0">
                <a:solidFill>
                  <a:schemeClr val="tx1"/>
                </a:solidFill>
              </a:rPr>
              <a:t>Vérification : </a:t>
            </a:r>
            <a:pPr indent="0" marL="0">
              <a:buNone/>
            </a:pPr>
            <a:r>
              <a:rPr lang="en-US" sz="1400" dirty="0">
                <a:solidFill>
                  <a:schemeClr val="tx1"/>
                </a:solidFill>
              </a:rPr>
              <a:t>synthetic-probe fait un virement témoin toutes les 5 s à travers le WAF ; l'incident n'est clos qu'après un succès.</a:t>
            </a:r>
            <a:endParaRPr lang="en-US" sz="1400" dirty="0"/>
          </a:p>
        </p:txBody>
      </p:sp>
      <p:sp>
        <p:nvSpPr>
          <p:cNvPr id="33" name="Fait 1"/>
          <p:cNvSpPr/>
          <p:nvPr/>
        </p:nvSpPr>
        <p:spPr>
          <a:xfrm>
            <a:off x="9418320" y="1371600"/>
            <a:ext cx="2194560" cy="1234440"/>
          </a:xfrm>
          <a:prstGeom prst="roundRect">
            <a:avLst>
              <a:gd name="adj" fmla="val 8889"/>
            </a:avLst>
          </a:prstGeom>
          <a:solidFill>
            <a:schemeClr val="bg2"/>
          </a:solidFill>
          <a:ln w="12700">
            <a:solidFill>
              <a:schemeClr val="bg2"/>
            </a:solidFill>
            <a:prstDash val="solid"/>
          </a:ln>
        </p:spPr>
      </p:sp>
      <p:sp>
        <p:nvSpPr>
          <p:cNvPr id="34" name="Fait chiffre 1"/>
          <p:cNvSpPr txBox="1"/>
          <p:nvPr/>
        </p:nvSpPr>
        <p:spPr>
          <a:xfrm>
            <a:off x="9601200" y="1463040"/>
            <a:ext cx="1828800" cy="594360"/>
          </a:xfrm>
          <a:prstGeom prst="rect">
            <a:avLst/>
          </a:prstGeom>
          <a:noFill/>
          <a:ln/>
        </p:spPr>
        <p:txBody>
          <a:bodyPr wrap="square" lIns="0" tIns="0" rIns="0" bIns="0" rtlCol="0" anchor="ctr"/>
          <a:lstStyle/>
          <a:p>
            <a:pPr indent="0" marL="0">
              <a:buNone/>
            </a:pPr>
            <a:r>
              <a:rPr lang="en-US" sz="3600" b="1" dirty="0">
                <a:solidFill>
                  <a:schemeClr val="tx1"/>
                </a:solidFill>
              </a:rPr>
              <a:t>1</a:t>
            </a:r>
            <a:endParaRPr lang="en-US" sz="3600" dirty="0"/>
          </a:p>
        </p:txBody>
      </p:sp>
      <p:sp>
        <p:nvSpPr>
          <p:cNvPr id="35" name="Fait texte 1"/>
          <p:cNvSpPr txBox="1"/>
          <p:nvPr/>
        </p:nvSpPr>
        <p:spPr>
          <a:xfrm>
            <a:off x="9601200" y="2057400"/>
            <a:ext cx="1920240" cy="502920"/>
          </a:xfrm>
          <a:prstGeom prst="rect">
            <a:avLst/>
          </a:prstGeom>
          <a:noFill/>
          <a:ln/>
        </p:spPr>
        <p:txBody>
          <a:bodyPr wrap="square" lIns="0" tIns="0" rIns="0" bIns="0" rtlCol="0" anchor="t"/>
          <a:lstStyle/>
          <a:p>
            <a:pPr indent="0" marL="0">
              <a:buNone/>
            </a:pPr>
            <a:r>
              <a:rPr lang="en-US" sz="1300" dirty="0">
                <a:solidFill>
                  <a:schemeClr val="tx1"/>
                </a:solidFill>
              </a:rPr>
              <a:t>seul port exposé : 443</a:t>
            </a:r>
            <a:endParaRPr lang="en-US" sz="1300" dirty="0"/>
          </a:p>
        </p:txBody>
      </p:sp>
      <p:sp>
        <p:nvSpPr>
          <p:cNvPr id="36" name="Fait 2"/>
          <p:cNvSpPr/>
          <p:nvPr/>
        </p:nvSpPr>
        <p:spPr>
          <a:xfrm>
            <a:off x="9418320" y="2834640"/>
            <a:ext cx="2194560" cy="1234440"/>
          </a:xfrm>
          <a:prstGeom prst="roundRect">
            <a:avLst>
              <a:gd name="adj" fmla="val 8889"/>
            </a:avLst>
          </a:prstGeom>
          <a:solidFill>
            <a:schemeClr val="bg2"/>
          </a:solidFill>
          <a:ln w="12700">
            <a:solidFill>
              <a:schemeClr val="bg2"/>
            </a:solidFill>
            <a:prstDash val="solid"/>
          </a:ln>
        </p:spPr>
      </p:sp>
      <p:sp>
        <p:nvSpPr>
          <p:cNvPr id="37" name="Fait chiffre 2"/>
          <p:cNvSpPr txBox="1"/>
          <p:nvPr/>
        </p:nvSpPr>
        <p:spPr>
          <a:xfrm>
            <a:off x="9601200" y="2926080"/>
            <a:ext cx="1828800" cy="594360"/>
          </a:xfrm>
          <a:prstGeom prst="rect">
            <a:avLst/>
          </a:prstGeom>
          <a:noFill/>
          <a:ln/>
        </p:spPr>
        <p:txBody>
          <a:bodyPr wrap="square" lIns="0" tIns="0" rIns="0" bIns="0" rtlCol="0" anchor="ctr"/>
          <a:lstStyle/>
          <a:p>
            <a:pPr indent="0" marL="0">
              <a:buNone/>
            </a:pPr>
            <a:r>
              <a:rPr lang="en-US" sz="3600" b="1" dirty="0">
                <a:solidFill>
                  <a:schemeClr val="tx1"/>
                </a:solidFill>
              </a:rPr>
              <a:t>7</a:t>
            </a:r>
            <a:endParaRPr lang="en-US" sz="3600" dirty="0"/>
          </a:p>
        </p:txBody>
      </p:sp>
      <p:sp>
        <p:nvSpPr>
          <p:cNvPr id="38" name="Fait texte 2"/>
          <p:cNvSpPr txBox="1"/>
          <p:nvPr/>
        </p:nvSpPr>
        <p:spPr>
          <a:xfrm>
            <a:off x="9601200" y="3520440"/>
            <a:ext cx="1920240" cy="502920"/>
          </a:xfrm>
          <a:prstGeom prst="rect">
            <a:avLst/>
          </a:prstGeom>
          <a:noFill/>
          <a:ln/>
        </p:spPr>
        <p:txBody>
          <a:bodyPr wrap="square" lIns="0" tIns="0" rIns="0" bIns="0" rtlCol="0" anchor="t"/>
          <a:lstStyle/>
          <a:p>
            <a:pPr indent="0" marL="0">
              <a:buNone/>
            </a:pPr>
            <a:r>
              <a:rPr lang="en-US" sz="1300" dirty="0">
                <a:solidFill>
                  <a:schemeClr val="tx1"/>
                </a:solidFill>
              </a:rPr>
              <a:t>réseaux segmentés, dont 4 internes</a:t>
            </a:r>
            <a:endParaRPr lang="en-US" sz="1300" dirty="0"/>
          </a:p>
        </p:txBody>
      </p:sp>
      <p:sp>
        <p:nvSpPr>
          <p:cNvPr id="39" name="Fait 3"/>
          <p:cNvSpPr/>
          <p:nvPr/>
        </p:nvSpPr>
        <p:spPr>
          <a:xfrm>
            <a:off x="9418320" y="4297680"/>
            <a:ext cx="2194560" cy="1234440"/>
          </a:xfrm>
          <a:prstGeom prst="roundRect">
            <a:avLst>
              <a:gd name="adj" fmla="val 8889"/>
            </a:avLst>
          </a:prstGeom>
          <a:solidFill>
            <a:schemeClr val="bg2"/>
          </a:solidFill>
          <a:ln w="12700">
            <a:solidFill>
              <a:schemeClr val="bg2"/>
            </a:solidFill>
            <a:prstDash val="solid"/>
          </a:ln>
        </p:spPr>
      </p:sp>
      <p:sp>
        <p:nvSpPr>
          <p:cNvPr id="40" name="Fait chiffre 3"/>
          <p:cNvSpPr txBox="1"/>
          <p:nvPr/>
        </p:nvSpPr>
        <p:spPr>
          <a:xfrm>
            <a:off x="9601200" y="4389120"/>
            <a:ext cx="1828800" cy="594360"/>
          </a:xfrm>
          <a:prstGeom prst="rect">
            <a:avLst/>
          </a:prstGeom>
          <a:noFill/>
          <a:ln/>
        </p:spPr>
        <p:txBody>
          <a:bodyPr wrap="square" lIns="0" tIns="0" rIns="0" bIns="0" rtlCol="0" anchor="ctr"/>
          <a:lstStyle/>
          <a:p>
            <a:pPr indent="0" marL="0">
              <a:buNone/>
            </a:pPr>
            <a:r>
              <a:rPr lang="en-US" sz="3600" b="1" dirty="0">
                <a:solidFill>
                  <a:schemeClr val="tx1"/>
                </a:solidFill>
              </a:rPr>
              <a:t>0</a:t>
            </a:r>
            <a:endParaRPr lang="en-US" sz="3600" dirty="0"/>
          </a:p>
        </p:txBody>
      </p:sp>
      <p:sp>
        <p:nvSpPr>
          <p:cNvPr id="41" name="Fait texte 3"/>
          <p:cNvSpPr txBox="1"/>
          <p:nvPr/>
        </p:nvSpPr>
        <p:spPr>
          <a:xfrm>
            <a:off x="9601200" y="4983480"/>
            <a:ext cx="1920240" cy="502920"/>
          </a:xfrm>
          <a:prstGeom prst="rect">
            <a:avLst/>
          </a:prstGeom>
          <a:noFill/>
          <a:ln/>
        </p:spPr>
        <p:txBody>
          <a:bodyPr wrap="square" lIns="0" tIns="0" rIns="0" bIns="0" rtlCol="0" anchor="t"/>
          <a:lstStyle/>
          <a:p>
            <a:pPr indent="0" marL="0">
              <a:buNone/>
            </a:pPr>
            <a:r>
              <a:rPr lang="en-US" sz="1300" dirty="0">
                <a:solidFill>
                  <a:schemeClr val="tx1"/>
                </a:solidFill>
              </a:rPr>
              <a:t>accès direct au socket Docker</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8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L'IA apprend à quoi ressemble une journée normale</a:t>
            </a:r>
            <a:endParaRPr lang="en-US" sz="3400" dirty="0"/>
          </a:p>
        </p:txBody>
      </p:sp>
      <p:sp>
        <p:nvSpPr>
          <p:cNvPr id="3" name="Étape ML 1"/>
          <p:cNvSpPr/>
          <p:nvPr/>
        </p:nvSpPr>
        <p:spPr>
          <a:xfrm>
            <a:off x="548640" y="1417320"/>
            <a:ext cx="1143000" cy="1143000"/>
          </a:xfrm>
          <a:prstGeom prst="ellipse">
            <a:avLst/>
          </a:prstGeom>
          <a:solidFill>
            <a:schemeClr val="accent2"/>
          </a:solidFill>
          <a:ln w="12700">
            <a:solidFill>
              <a:schemeClr val="accent2"/>
            </a:solidFill>
            <a:prstDash val="solid"/>
          </a:ln>
        </p:spPr>
      </p:sp>
      <p:sp>
        <p:nvSpPr>
          <p:cNvPr id="4" name="Étape ML 1 texte"/>
          <p:cNvSpPr txBox="1"/>
          <p:nvPr/>
        </p:nvSpPr>
        <p:spPr>
          <a:xfrm>
            <a:off x="548640" y="1417320"/>
            <a:ext cx="1143000" cy="1143000"/>
          </a:xfrm>
          <a:prstGeom prst="rect">
            <a:avLst/>
          </a:prstGeom>
          <a:noFill/>
          <a:ln/>
        </p:spPr>
        <p:txBody>
          <a:bodyPr wrap="square" lIns="0" tIns="0" rIns="0" bIns="0" rtlCol="0" anchor="ctr"/>
          <a:lstStyle/>
          <a:p>
            <a:pPr algn="ctr" indent="0" marL="0">
              <a:buNone/>
            </a:pPr>
            <a:r>
              <a:rPr lang="en-US" sz="1700" b="1" dirty="0">
                <a:solidFill>
                  <a:schemeClr val="tx1"/>
                </a:solidFill>
              </a:rPr>
              <a:t>10 min</a:t>
            </a:r>
            <a:endParaRPr lang="en-US" sz="1700" dirty="0"/>
          </a:p>
        </p:txBody>
      </p:sp>
      <p:sp>
        <p:nvSpPr>
          <p:cNvPr id="5" name="Étape ML texte 1"/>
          <p:cNvSpPr txBox="1"/>
          <p:nvPr/>
        </p:nvSpPr>
        <p:spPr>
          <a:xfrm>
            <a:off x="1920240" y="1417320"/>
            <a:ext cx="4754880" cy="1143000"/>
          </a:xfrm>
          <a:prstGeom prst="rect">
            <a:avLst/>
          </a:prstGeom>
          <a:noFill/>
          <a:ln/>
        </p:spPr>
        <p:txBody>
          <a:bodyPr wrap="square" lIns="0" tIns="0" rIns="0" bIns="0" rtlCol="0" anchor="ctr"/>
          <a:lstStyle/>
          <a:p>
            <a:pPr indent="0" marL="0">
              <a:buNone/>
            </a:pPr>
            <a:r>
              <a:rPr lang="en-US" sz="1700" dirty="0">
                <a:solidFill>
                  <a:schemeClr val="tx1"/>
                </a:solidFill>
              </a:rPr>
              <a:t>Apprentissage automatique sur du trafic sain, sans jeu de données préalable</a:t>
            </a:r>
            <a:endParaRPr lang="en-US" sz="1700" dirty="0"/>
          </a:p>
        </p:txBody>
      </p:sp>
      <p:sp>
        <p:nvSpPr>
          <p:cNvPr id="6" name="Étape ML 2"/>
          <p:cNvSpPr/>
          <p:nvPr/>
        </p:nvSpPr>
        <p:spPr>
          <a:xfrm>
            <a:off x="548640" y="2880360"/>
            <a:ext cx="1143000" cy="1143000"/>
          </a:xfrm>
          <a:prstGeom prst="ellipse">
            <a:avLst/>
          </a:prstGeom>
          <a:solidFill>
            <a:schemeClr val="accent2"/>
          </a:solidFill>
          <a:ln w="12700">
            <a:solidFill>
              <a:schemeClr val="accent2"/>
            </a:solidFill>
            <a:prstDash val="solid"/>
          </a:ln>
        </p:spPr>
      </p:sp>
      <p:sp>
        <p:nvSpPr>
          <p:cNvPr id="7" name="Étape ML 2 texte"/>
          <p:cNvSpPr txBox="1"/>
          <p:nvPr/>
        </p:nvSpPr>
        <p:spPr>
          <a:xfrm>
            <a:off x="548640" y="2880360"/>
            <a:ext cx="1143000" cy="1143000"/>
          </a:xfrm>
          <a:prstGeom prst="rect">
            <a:avLst/>
          </a:prstGeom>
          <a:noFill/>
          <a:ln/>
        </p:spPr>
        <p:txBody>
          <a:bodyPr wrap="square" lIns="0" tIns="0" rIns="0" bIns="0" rtlCol="0" anchor="ctr"/>
          <a:lstStyle/>
          <a:p>
            <a:pPr algn="ctr" indent="0" marL="0">
              <a:buNone/>
            </a:pPr>
            <a:r>
              <a:rPr lang="en-US" sz="2000" b="1" dirty="0">
                <a:solidFill>
                  <a:schemeClr val="tx1"/>
                </a:solidFill>
              </a:rPr>
              <a:t>5 s</a:t>
            </a:r>
            <a:endParaRPr lang="en-US" sz="2000" dirty="0"/>
          </a:p>
        </p:txBody>
      </p:sp>
      <p:sp>
        <p:nvSpPr>
          <p:cNvPr id="8" name="Étape ML texte 2"/>
          <p:cNvSpPr txBox="1"/>
          <p:nvPr/>
        </p:nvSpPr>
        <p:spPr>
          <a:xfrm>
            <a:off x="1920240" y="2880360"/>
            <a:ext cx="4754880" cy="1143000"/>
          </a:xfrm>
          <a:prstGeom prst="rect">
            <a:avLst/>
          </a:prstGeom>
          <a:noFill/>
          <a:ln/>
        </p:spPr>
        <p:txBody>
          <a:bodyPr wrap="square" lIns="0" tIns="0" rIns="0" bIns="0" rtlCol="0" anchor="ctr"/>
          <a:lstStyle/>
          <a:p>
            <a:pPr indent="0" marL="0">
              <a:buNone/>
            </a:pPr>
            <a:r>
              <a:rPr lang="en-US" sz="1700" dirty="0">
                <a:solidFill>
                  <a:schemeClr val="tx1"/>
                </a:solidFill>
              </a:rPr>
              <a:t>Toutes les 5 s, 19 indicateurs : échecs de connexion, latence, blocages WAF, cohérence des soldes…</a:t>
            </a:r>
            <a:endParaRPr lang="en-US" sz="1700" dirty="0"/>
          </a:p>
        </p:txBody>
      </p:sp>
      <p:sp>
        <p:nvSpPr>
          <p:cNvPr id="9" name="Étape ML 3"/>
          <p:cNvSpPr/>
          <p:nvPr/>
        </p:nvSpPr>
        <p:spPr>
          <a:xfrm>
            <a:off x="548640" y="4343400"/>
            <a:ext cx="1143000" cy="1143000"/>
          </a:xfrm>
          <a:prstGeom prst="ellipse">
            <a:avLst/>
          </a:prstGeom>
          <a:solidFill>
            <a:schemeClr val="accent2"/>
          </a:solidFill>
          <a:ln w="12700">
            <a:solidFill>
              <a:schemeClr val="accent2"/>
            </a:solidFill>
            <a:prstDash val="solid"/>
          </a:ln>
        </p:spPr>
      </p:sp>
      <p:sp>
        <p:nvSpPr>
          <p:cNvPr id="10" name="Étape ML 3 texte"/>
          <p:cNvSpPr txBox="1"/>
          <p:nvPr/>
        </p:nvSpPr>
        <p:spPr>
          <a:xfrm>
            <a:off x="548640" y="4343400"/>
            <a:ext cx="1143000" cy="1143000"/>
          </a:xfrm>
          <a:prstGeom prst="rect">
            <a:avLst/>
          </a:prstGeom>
          <a:noFill/>
          <a:ln/>
        </p:spPr>
        <p:txBody>
          <a:bodyPr wrap="square" lIns="0" tIns="0" rIns="0" bIns="0" rtlCol="0" anchor="ctr"/>
          <a:lstStyle/>
          <a:p>
            <a:pPr algn="ctr" indent="0" marL="0">
              <a:buNone/>
            </a:pPr>
            <a:r>
              <a:rPr lang="en-US" sz="1700" b="1" dirty="0">
                <a:solidFill>
                  <a:schemeClr val="tx1"/>
                </a:solidFill>
              </a:rPr>
              <a:t>1 type</a:t>
            </a:r>
            <a:endParaRPr lang="en-US" sz="1700" dirty="0"/>
          </a:p>
        </p:txBody>
      </p:sp>
      <p:sp>
        <p:nvSpPr>
          <p:cNvPr id="11" name="Étape ML texte 3"/>
          <p:cNvSpPr txBox="1"/>
          <p:nvPr/>
        </p:nvSpPr>
        <p:spPr>
          <a:xfrm>
            <a:off x="1920240" y="4343400"/>
            <a:ext cx="4754880" cy="1143000"/>
          </a:xfrm>
          <a:prstGeom prst="rect">
            <a:avLst/>
          </a:prstGeom>
          <a:noFill/>
          <a:ln/>
        </p:spPr>
        <p:txBody>
          <a:bodyPr wrap="square" lIns="0" tIns="0" rIns="0" bIns="0" rtlCol="0" anchor="ctr"/>
          <a:lstStyle/>
          <a:p>
            <a:pPr indent="0" marL="0">
              <a:buNone/>
            </a:pPr>
            <a:r>
              <a:rPr lang="en-US" sz="1700" dirty="0">
                <a:solidFill>
                  <a:schemeClr val="tx1"/>
                </a:solidFill>
              </a:rPr>
              <a:t>Le type d'incident est qualifié pour choisir le bon plan de réponse</a:t>
            </a:r>
            <a:endParaRPr lang="en-US" sz="1700" dirty="0"/>
          </a:p>
        </p:txBody>
      </p:sp>
      <p:sp>
        <p:nvSpPr>
          <p:cNvPr id="12" name="Carte chiffres ML"/>
          <p:cNvSpPr/>
          <p:nvPr/>
        </p:nvSpPr>
        <p:spPr>
          <a:xfrm>
            <a:off x="7223760" y="1417320"/>
            <a:ext cx="4389120" cy="4114800"/>
          </a:xfrm>
          <a:prstGeom prst="roundRect">
            <a:avLst>
              <a:gd name="adj" fmla="val 2667"/>
            </a:avLst>
          </a:prstGeom>
          <a:solidFill>
            <a:schemeClr val="tx1"/>
          </a:solidFill>
          <a:ln w="12700">
            <a:solidFill>
              <a:schemeClr val="tx1"/>
            </a:solidFill>
            <a:prstDash val="solid"/>
          </a:ln>
        </p:spPr>
      </p:sp>
      <p:sp>
        <p:nvSpPr>
          <p:cNvPr id="13" name="Titre pourquoi"/>
          <p:cNvSpPr txBox="1"/>
          <p:nvPr/>
        </p:nvSpPr>
        <p:spPr>
          <a:xfrm>
            <a:off x="7543800" y="1645920"/>
            <a:ext cx="3840480" cy="457200"/>
          </a:xfrm>
          <a:prstGeom prst="rect">
            <a:avLst/>
          </a:prstGeom>
          <a:noFill/>
          <a:ln/>
        </p:spPr>
        <p:txBody>
          <a:bodyPr wrap="square" lIns="0" tIns="0" rIns="0" bIns="0" rtlCol="0" anchor="ctr"/>
          <a:lstStyle/>
          <a:p>
            <a:pPr indent="0" marL="0">
              <a:buNone/>
            </a:pPr>
            <a:r>
              <a:rPr lang="en-US" sz="1800" b="1" dirty="0">
                <a:solidFill>
                  <a:schemeClr val="bg1"/>
                </a:solidFill>
              </a:rPr>
              <a:t>Pourquoi pas un simple seuil ?</a:t>
            </a:r>
            <a:endParaRPr lang="en-US" sz="1800" dirty="0"/>
          </a:p>
        </p:txBody>
      </p:sp>
      <p:sp>
        <p:nvSpPr>
          <p:cNvPr id="14" name="Texte pourquoi"/>
          <p:cNvSpPr txBox="1"/>
          <p:nvPr/>
        </p:nvSpPr>
        <p:spPr>
          <a:xfrm>
            <a:off x="7543800" y="2103120"/>
            <a:ext cx="3840480" cy="1097280"/>
          </a:xfrm>
          <a:prstGeom prst="rect">
            <a:avLst/>
          </a:prstGeom>
          <a:noFill/>
          <a:ln/>
        </p:spPr>
        <p:txBody>
          <a:bodyPr wrap="square" lIns="0" tIns="0" rIns="0" bIns="0" rtlCol="0" anchor="t"/>
          <a:lstStyle/>
          <a:p>
            <a:pPr indent="0" marL="0">
              <a:buNone/>
            </a:pPr>
            <a:r>
              <a:rPr lang="en-US" sz="1500" dirty="0">
                <a:solidFill>
                  <a:schemeClr val="bg1"/>
                </a:solidFill>
              </a:rPr>
              <a:t>Un attaquant reste juste sous le seuil, et un pic légitime le déclenche à tort. Le ML mesure l'écart à la normale.</a:t>
            </a:r>
            <a:endParaRPr lang="en-US" sz="1500" dirty="0"/>
          </a:p>
        </p:txBody>
      </p:sp>
      <p:sp>
        <p:nvSpPr>
          <p:cNvPr id="15" name="Stat faux positif"/>
          <p:cNvSpPr txBox="1"/>
          <p:nvPr/>
        </p:nvSpPr>
        <p:spPr>
          <a:xfrm>
            <a:off x="7543800" y="3291840"/>
            <a:ext cx="1920240" cy="2011680"/>
          </a:xfrm>
          <a:prstGeom prst="rect">
            <a:avLst/>
          </a:prstGeom>
          <a:noFill/>
          <a:ln/>
        </p:spPr>
        <p:txBody>
          <a:bodyPr wrap="square" lIns="0" tIns="0" rIns="0" bIns="0" rtlCol="0" anchor="t"/>
          <a:lstStyle/>
          <a:p>
            <a:pPr indent="0" marL="0">
              <a:buNone/>
            </a:pPr>
            <a:r>
              <a:rPr lang="en-US" sz="4400" b="1" dirty="0">
                <a:solidFill>
                  <a:schemeClr val="accent2"/>
                </a:solidFill>
              </a:rPr>
              <a:t>0</a:t>
            </a:r>
            <a:endParaRPr lang="en-US" sz="4400" dirty="0"/>
          </a:p>
          <a:p>
            <a:pPr indent="0" marL="0">
              <a:buNone/>
            </a:pPr>
            <a:r>
              <a:rPr lang="en-US" sz="1400" dirty="0">
                <a:solidFill>
                  <a:schemeClr val="bg1"/>
                </a:solidFill>
              </a:rPr>
              <a:t>fausse alerte en régime normal pendant nos tests</a:t>
            </a:r>
            <a:endParaRPr lang="en-US" sz="4400" dirty="0"/>
          </a:p>
        </p:txBody>
      </p:sp>
      <p:sp>
        <p:nvSpPr>
          <p:cNvPr id="16" name="Stat altération"/>
          <p:cNvSpPr txBox="1"/>
          <p:nvPr/>
        </p:nvSpPr>
        <p:spPr>
          <a:xfrm>
            <a:off x="9601200" y="3291840"/>
            <a:ext cx="1828800" cy="2011680"/>
          </a:xfrm>
          <a:prstGeom prst="rect">
            <a:avLst/>
          </a:prstGeom>
          <a:noFill/>
          <a:ln/>
        </p:spPr>
        <p:txBody>
          <a:bodyPr wrap="square" lIns="0" tIns="0" rIns="0" bIns="0" rtlCol="0" anchor="t"/>
          <a:lstStyle/>
          <a:p>
            <a:pPr indent="0" marL="0">
              <a:buNone/>
            </a:pPr>
            <a:r>
              <a:rPr lang="en-US" sz="4400" b="1" dirty="0">
                <a:solidFill>
                  <a:schemeClr val="accent2"/>
                </a:solidFill>
              </a:rPr>
              <a:t>1,0</a:t>
            </a:r>
            <a:endParaRPr lang="en-US" sz="4400" dirty="0"/>
          </a:p>
          <a:p>
            <a:pPr indent="0" marL="0">
              <a:buNone/>
            </a:pPr>
            <a:r>
              <a:rPr lang="en-US" sz="1400" dirty="0">
                <a:solidFill>
                  <a:schemeClr val="bg1"/>
                </a:solidFill>
              </a:rPr>
              <a:t>score d'anomalie quand tous les soldes sont falsifiés</a:t>
            </a:r>
            <a:endParaRPr lang="en-US" sz="4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8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Une procédure d'urgence écrite à l'avance</a:t>
            </a:r>
            <a:endParaRPr lang="en-US" sz="3400" dirty="0"/>
          </a:p>
        </p:txBody>
      </p:sp>
      <p:graphicFrame>
        <p:nvGraphicFramePr>
          <p:cNvPr id="7" name="Table playbooks"/>
          <p:cNvGraphicFramePr>
            <a:graphicFrameLocks noGrp="1"/>
          </p:cNvGraphicFramePr>
          <p:nvPr>
            <p:extLst>
              <p:ext uri="{D42A27DB-BD31-4B8C-83A1-F6EECF244321}">
                <p14:modId xmlns:p14="http://schemas.microsoft.com/office/powerpoint/2010/main" val="1579011935"/>
              </p:ext>
            </p:extLst>
          </p:nvPr>
        </p:nvGraphicFramePr>
        <p:xfrm>
          <a:off x="548640" y="1417320"/>
          <a:ext cx="6675120" cy="914400"/>
        </p:xfrm>
        <a:graphic>
          <a:graphicData uri="http://schemas.openxmlformats.org/drawingml/2006/table">
            <a:tbl>
              <a:tblPr/>
              <a:tblGrid>
                <a:gridCol w="2194560"/>
                <a:gridCol w="4480560"/>
              </a:tblGrid>
              <a:tr h="731520">
                <a:tc>
                  <a:txBody>
                    <a:bodyPr/>
                    <a:lstStyle/>
                    <a:p>
                      <a:pPr indent="0" marL="0">
                        <a:buNone/>
                      </a:pPr>
                      <a:r>
                        <a:rPr lang="en-US" sz="1400" b="1" dirty="0">
                          <a:solidFill>
                            <a:schemeClr val="bg1"/>
                          </a:solidFill>
                        </a:rPr>
                        <a:t>Incident détecté</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Réponse automatique</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tx1"/>
                    </a:solidFill>
                  </a:tcPr>
                </a:tc>
              </a:tr>
              <a:tr h="731520">
                <a:tc>
                  <a:txBody>
                    <a:bodyPr/>
                    <a:lstStyle/>
                    <a:p>
                      <a:pPr indent="0" marL="0">
                        <a:buNone/>
                      </a:pPr>
                      <a:r>
                        <a:rPr lang="en-US" sz="1400" dirty="0">
                          <a:solidFill>
                            <a:schemeClr val="tx1"/>
                          </a:solidFill>
                        </a:rPr>
                        <a:t>Bourrage d'identifiants</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Bloquer l'attaquant au WAF, révoquer les sessions</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bg1"/>
                    </a:solidFill>
                  </a:tcPr>
                </a:tc>
              </a:tr>
              <a:tr h="731520">
                <a:tc>
                  <a:txBody>
                    <a:bodyPr/>
                    <a:lstStyle/>
                    <a:p>
                      <a:pPr indent="0" marL="0">
                        <a:buNone/>
                      </a:pPr>
                      <a:r>
                        <a:rPr lang="en-US" sz="1400" dirty="0">
                          <a:solidFill>
                            <a:schemeClr val="tx1"/>
                          </a:solidFill>
                        </a:rPr>
                        <a:t>Injection</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Bloquer l'attaquant au WAF</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bg1"/>
                    </a:solidFill>
                  </a:tcPr>
                </a:tc>
              </a:tr>
              <a:tr h="731520">
                <a:tc>
                  <a:txBody>
                    <a:bodyPr/>
                    <a:lstStyle/>
                    <a:p>
                      <a:pPr indent="0" marL="0">
                        <a:buNone/>
                      </a:pPr>
                      <a:r>
                        <a:rPr lang="en-US" sz="1400" dirty="0">
                          <a:solidFill>
                            <a:schemeClr val="tx1"/>
                          </a:solidFill>
                        </a:rPr>
                        <a:t>Saturation</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Bloquer + limiter le débit (clients légitimes préservés)</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bg1"/>
                    </a:solidFill>
                  </a:tcPr>
                </a:tc>
              </a:tr>
              <a:tr h="731520">
                <a:tc>
                  <a:txBody>
                    <a:bodyPr/>
                    <a:lstStyle/>
                    <a:p>
                      <a:pPr indent="0" marL="0">
                        <a:buNone/>
                      </a:pPr>
                      <a:r>
                        <a:rPr lang="en-US" sz="1400" dirty="0">
                          <a:solidFill>
                            <a:schemeClr val="tx1"/>
                          </a:solidFill>
                        </a:rPr>
                        <a:t>Service en panne</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Redémarrer le conteneur</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bg1"/>
                    </a:solidFill>
                  </a:tcPr>
                </a:tc>
              </a:tr>
              <a:tr h="731520">
                <a:tc>
                  <a:txBody>
                    <a:bodyPr/>
                    <a:lstStyle/>
                    <a:p>
                      <a:pPr indent="0" marL="0">
                        <a:buNone/>
                      </a:pPr>
                      <a:r>
                        <a:rPr lang="en-US" sz="1400" dirty="0">
                          <a:solidFill>
                            <a:schemeClr val="tx1"/>
                          </a:solidFill>
                        </a:rPr>
                        <a:t>Soldes falsifiés</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Lecture seule → restaurer la base → déconnecter tout le monde → rouvrir</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bg1"/>
                    </a:solidFill>
                  </a:tcPr>
                </a:tc>
              </a:tr>
            </a:tbl>
          </a:graphicData>
        </a:graphic>
      </p:graphicFrame>
      <p:sp>
        <p:nvSpPr>
          <p:cNvPr id="4" name="Carte accès"/>
          <p:cNvSpPr/>
          <p:nvPr/>
        </p:nvSpPr>
        <p:spPr>
          <a:xfrm>
            <a:off x="7680960" y="1417320"/>
            <a:ext cx="3931920" cy="4480560"/>
          </a:xfrm>
          <a:prstGeom prst="roundRect">
            <a:avLst>
              <a:gd name="adj" fmla="val 2791"/>
            </a:avLst>
          </a:prstGeom>
          <a:solidFill>
            <a:schemeClr val="bg2"/>
          </a:solidFill>
          <a:ln w="12700">
            <a:solidFill>
              <a:schemeClr val="bg2"/>
            </a:solidFill>
            <a:prstDash val="solid"/>
          </a:ln>
        </p:spPr>
      </p:sp>
      <p:sp>
        <p:nvSpPr>
          <p:cNvPr id="5" name="Titre accès"/>
          <p:cNvSpPr txBox="1"/>
          <p:nvPr/>
        </p:nvSpPr>
        <p:spPr>
          <a:xfrm>
            <a:off x="7955280" y="1600200"/>
            <a:ext cx="3474720" cy="457200"/>
          </a:xfrm>
          <a:prstGeom prst="rect">
            <a:avLst/>
          </a:prstGeom>
          <a:noFill/>
          <a:ln/>
        </p:spPr>
        <p:txBody>
          <a:bodyPr wrap="square" lIns="0" tIns="0" rIns="0" bIns="0" rtlCol="0" anchor="ctr"/>
          <a:lstStyle/>
          <a:p>
            <a:pPr indent="0" marL="0">
              <a:buNone/>
            </a:pPr>
            <a:r>
              <a:rPr lang="en-US" sz="1800" b="1" dirty="0">
                <a:solidFill>
                  <a:schemeClr val="tx1"/>
                </a:solidFill>
              </a:rPr>
              <a:t>Un moteur aux droits minimaux</a:t>
            </a:r>
            <a:endParaRPr lang="en-US" sz="1800" dirty="0"/>
          </a:p>
        </p:txBody>
      </p:sp>
      <p:sp>
        <p:nvSpPr>
          <p:cNvPr id="6" name="Liste accès"/>
          <p:cNvSpPr txBox="1"/>
          <p:nvPr/>
        </p:nvSpPr>
        <p:spPr>
          <a:xfrm>
            <a:off x="7955280" y="2148840"/>
            <a:ext cx="3474720" cy="35661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Peut seulement redémarrer : ni créer, ni supprimer de conteneur</a:t>
            </a:r>
            <a:endParaRPr lang="en-US" sz="1500" dirty="0"/>
          </a:p>
          <a:p>
            <a:pPr marL="342900" indent="-342900">
              <a:spcAft>
                <a:spcPts val="900"/>
              </a:spcAft>
              <a:buSzPct val="100000"/>
              <a:buChar char="•"/>
            </a:pPr>
            <a:r>
              <a:rPr lang="en-US" sz="1500" dirty="0">
                <a:solidFill>
                  <a:schemeClr val="tx1"/>
                </a:solidFill>
              </a:rPr>
              <a:t>Ne vise que les conteneurs autorisés</a:t>
            </a:r>
            <a:endParaRPr lang="en-US" sz="1500" dirty="0"/>
          </a:p>
          <a:p>
            <a:pPr marL="342900" indent="-342900">
              <a:spcAft>
                <a:spcPts val="900"/>
              </a:spcAft>
              <a:buSzPct val="100000"/>
              <a:buChar char="•"/>
            </a:pPr>
            <a:r>
              <a:rPr lang="en-US" sz="1500" dirty="0">
                <a:solidFill>
                  <a:schemeClr val="tx1"/>
                </a:solidFill>
              </a:rPr>
              <a:t>Budget d'actions anti-boucle, puis escalade</a:t>
            </a:r>
            <a:endParaRPr lang="en-US" sz="1500" dirty="0"/>
          </a:p>
          <a:p>
            <a:pPr marL="342900" indent="-342900">
              <a:spcAft>
                <a:spcPts val="900"/>
              </a:spcAft>
              <a:buSzPct val="100000"/>
              <a:buChar char="•"/>
            </a:pPr>
            <a:r>
              <a:rPr lang="en-US" sz="1500" dirty="0">
                <a:solidFill>
                  <a:schemeClr val="tx1"/>
                </a:solidFill>
              </a:rPr>
              <a:t>Aucun mot de passe de base, aucune clé JWT</a:t>
            </a:r>
            <a:endParaRPr lang="en-US" sz="1500" dirty="0"/>
          </a:p>
          <a:p>
            <a:pPr marL="342900" indent="-342900">
              <a:spcAft>
                <a:spcPts val="900"/>
              </a:spcAft>
              <a:buSzPct val="100000"/>
              <a:buChar char="•"/>
            </a:pPr>
            <a:r>
              <a:rPr lang="en-US" sz="1500" dirty="0">
                <a:solidFill>
                  <a:schemeClr val="tx1"/>
                </a:solidFill>
              </a:rPr>
              <a:t>Chaque action est tracée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8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Résultats : tous les scénarios sous 60 secondes</a:t>
            </a:r>
            <a:endParaRPr lang="en-US" sz="3400" dirty="0"/>
          </a:p>
        </p:txBody>
      </p:sp>
      <p:graphicFrame>
        <p:nvGraphicFramePr>
          <p:cNvPr id="3" name="Graphique RTO" descr=""/>
          <p:cNvGraphicFramePr/>
          <p:nvPr/>
        </p:nvGraphicFramePr>
        <p:xfrm>
          <a:off x="548640" y="1325880"/>
          <a:ext cx="7498080" cy="4754880"/>
        </p:xfrm>
        <a:graphic xmlns:a="http://schemas.openxmlformats.org/drawingml/2006/main">
          <a:graphicData uri="http://schemas.openxmlformats.org/drawingml/2006/chart">
            <c:chart xmlns:c="http://schemas.openxmlformats.org/drawingml/2006/chart" r:id="rId1"/>
          </a:graphicData>
        </a:graphic>
      </p:graphicFrame>
      <p:sp>
        <p:nvSpPr>
          <p:cNvPr id="4" name="Carte stat 6 sur 6"/>
          <p:cNvSpPr/>
          <p:nvPr/>
        </p:nvSpPr>
        <p:spPr>
          <a:xfrm>
            <a:off x="8503920" y="1417320"/>
            <a:ext cx="3108960" cy="2103120"/>
          </a:xfrm>
          <a:prstGeom prst="roundRect">
            <a:avLst>
              <a:gd name="adj" fmla="val 5217"/>
            </a:avLst>
          </a:prstGeom>
          <a:solidFill>
            <a:schemeClr val="tx1"/>
          </a:solidFill>
          <a:ln w="12700">
            <a:solidFill>
              <a:schemeClr val="tx1"/>
            </a:solidFill>
            <a:prstDash val="solid"/>
          </a:ln>
        </p:spPr>
      </p:sp>
      <p:sp>
        <p:nvSpPr>
          <p:cNvPr id="5" name="Stat 6 sur 6"/>
          <p:cNvSpPr txBox="1"/>
          <p:nvPr/>
        </p:nvSpPr>
        <p:spPr>
          <a:xfrm>
            <a:off x="8778240" y="1508760"/>
            <a:ext cx="2651760" cy="1920240"/>
          </a:xfrm>
          <a:prstGeom prst="rect">
            <a:avLst/>
          </a:prstGeom>
          <a:noFill/>
          <a:ln/>
        </p:spPr>
        <p:txBody>
          <a:bodyPr wrap="square" lIns="0" tIns="0" rIns="0" bIns="0" rtlCol="0" anchor="ctr"/>
          <a:lstStyle/>
          <a:p>
            <a:pPr indent="0" marL="0">
              <a:buNone/>
            </a:pPr>
            <a:r>
              <a:rPr lang="en-US" sz="4800" b="1" dirty="0">
                <a:solidFill>
                  <a:schemeClr val="accent2"/>
                </a:solidFill>
              </a:rPr>
              <a:t>6 / 6</a:t>
            </a:r>
            <a:endParaRPr lang="en-US" sz="4800" dirty="0"/>
          </a:p>
          <a:p>
            <a:pPr indent="0" marL="0">
              <a:buNone/>
            </a:pPr>
            <a:r>
              <a:rPr lang="en-US" sz="1400" dirty="0">
                <a:solidFill>
                  <a:schemeClr val="bg1"/>
                </a:solidFill>
              </a:rPr>
              <a:t>scénarios repris sous l'objectif de 60 s du plan de reprise</a:t>
            </a:r>
            <a:endParaRPr lang="en-US" sz="4800" dirty="0"/>
          </a:p>
        </p:txBody>
      </p:sp>
      <p:sp>
        <p:nvSpPr>
          <p:cNvPr id="6" name="Carte méthode"/>
          <p:cNvSpPr/>
          <p:nvPr/>
        </p:nvSpPr>
        <p:spPr>
          <a:xfrm>
            <a:off x="8503920" y="3749040"/>
            <a:ext cx="3108960" cy="2286000"/>
          </a:xfrm>
          <a:prstGeom prst="roundRect">
            <a:avLst>
              <a:gd name="adj" fmla="val 4800"/>
            </a:avLst>
          </a:prstGeom>
          <a:solidFill>
            <a:schemeClr val="bg2"/>
          </a:solidFill>
          <a:ln w="12700">
            <a:solidFill>
              <a:schemeClr val="bg2"/>
            </a:solidFill>
            <a:prstDash val="solid"/>
          </a:ln>
        </p:spPr>
      </p:sp>
      <p:sp>
        <p:nvSpPr>
          <p:cNvPr id="7" name="Texte méthode"/>
          <p:cNvSpPr txBox="1"/>
          <p:nvPr/>
        </p:nvSpPr>
        <p:spPr>
          <a:xfrm>
            <a:off x="8732520" y="3840480"/>
            <a:ext cx="2697480" cy="2103120"/>
          </a:xfrm>
          <a:prstGeom prst="rect">
            <a:avLst/>
          </a:prstGeom>
          <a:noFill/>
          <a:ln/>
        </p:spPr>
        <p:txBody>
          <a:bodyPr wrap="square" lIns="0" tIns="0" rIns="0" bIns="0" rtlCol="0" anchor="ctr"/>
          <a:lstStyle/>
          <a:p>
            <a:pPr indent="0" marL="0">
              <a:buNone/>
            </a:pPr>
            <a:r>
              <a:rPr lang="en-US" sz="1400" dirty="0">
                <a:solidFill>
                  <a:schemeClr val="tx1"/>
                </a:solidFill>
              </a:rPr>
              <a:t>Mesuré automatiquement : du début de l'anomalie jusqu'au virement témoin réussi. Campagne de chaos engineering du 19/10/2026.</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8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Chaque risque identifié a sa réponse automatique</a:t>
            </a:r>
            <a:endParaRPr lang="en-US" sz="3400" dirty="0"/>
          </a:p>
        </p:txBody>
      </p:sp>
      <p:graphicFrame>
        <p:nvGraphicFramePr>
          <p:cNvPr id="9" name="Table EBIOS"/>
          <p:cNvGraphicFramePr>
            <a:graphicFrameLocks noGrp="1"/>
          </p:cNvGraphicFramePr>
          <p:nvPr>
            <p:extLst>
              <p:ext uri="{D42A27DB-BD31-4B8C-83A1-F6EECF244321}">
                <p14:modId xmlns:p14="http://schemas.microsoft.com/office/powerpoint/2010/main" val="1579011935"/>
              </p:ext>
            </p:extLst>
          </p:nvPr>
        </p:nvGraphicFramePr>
        <p:xfrm>
          <a:off x="548640" y="1417320"/>
          <a:ext cx="6949440" cy="914400"/>
        </p:xfrm>
        <a:graphic>
          <a:graphicData uri="http://schemas.openxmlformats.org/drawingml/2006/table">
            <a:tbl>
              <a:tblPr/>
              <a:tblGrid>
                <a:gridCol w="3108960"/>
                <a:gridCol w="2286000"/>
                <a:gridCol w="1554480"/>
              </a:tblGrid>
              <a:tr h="548640">
                <a:tc>
                  <a:txBody>
                    <a:bodyPr/>
                    <a:lstStyle/>
                    <a:p>
                      <a:pPr indent="0" marL="0">
                        <a:buNone/>
                      </a:pPr>
                      <a:r>
                        <a:rPr lang="en-US" sz="1400" b="1" dirty="0">
                          <a:solidFill>
                            <a:schemeClr val="bg1"/>
                          </a:solidFill>
                        </a:rPr>
                        <a:t>Scénario de risque (EBIOS RM)</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Réponse</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Vraisemblance</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tx1"/>
                    </a:solidFill>
                  </a:tcPr>
                </a:tc>
              </a:tr>
              <a:tr h="548640">
                <a:tc>
                  <a:txBody>
                    <a:bodyPr/>
                    <a:lstStyle/>
                    <a:p>
                      <a:pPr indent="0" marL="0">
                        <a:buNone/>
                      </a:pPr>
                      <a:r>
                        <a:rPr lang="en-US" sz="1400" dirty="0">
                          <a:solidFill>
                            <a:schemeClr val="tx1"/>
                          </a:solidFill>
                        </a:rPr>
                        <a:t>Prise de contrôle de comptes</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brute_force</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V3 → V1</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bg1"/>
                    </a:solidFill>
                  </a:tcPr>
                </a:tc>
              </a:tr>
              <a:tr h="548640">
                <a:tc>
                  <a:txBody>
                    <a:bodyPr/>
                    <a:lstStyle/>
                    <a:p>
                      <a:pPr indent="0" marL="0">
                        <a:buNone/>
                      </a:pPr>
                      <a:r>
                        <a:rPr lang="en-US" sz="1400" dirty="0">
                          <a:solidFill>
                            <a:schemeClr val="tx1"/>
                          </a:solidFill>
                        </a:rPr>
                        <a:t>Exploitation de l'API</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injection</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V2 → V1</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bg1"/>
                    </a:solidFill>
                  </a:tcPr>
                </a:tc>
              </a:tr>
              <a:tr h="548640">
                <a:tc>
                  <a:txBody>
                    <a:bodyPr/>
                    <a:lstStyle/>
                    <a:p>
                      <a:pPr indent="0" marL="0">
                        <a:buNone/>
                      </a:pPr>
                      <a:r>
                        <a:rPr lang="en-US" sz="1400" dirty="0">
                          <a:solidFill>
                            <a:schemeClr val="tx1"/>
                          </a:solidFill>
                        </a:rPr>
                        <a:t>Saturation du service</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http_flood</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V3 → V2</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bg1"/>
                    </a:solidFill>
                  </a:tcPr>
                </a:tc>
              </a:tr>
              <a:tr h="548640">
                <a:tc>
                  <a:txBody>
                    <a:bodyPr/>
                    <a:lstStyle/>
                    <a:p>
                      <a:pPr indent="0" marL="0">
                        <a:buNone/>
                      </a:pPr>
                      <a:r>
                        <a:rPr lang="en-US" sz="1400" dirty="0">
                          <a:solidFill>
                            <a:schemeClr val="tx1"/>
                          </a:solidFill>
                        </a:rPr>
                        <a:t>Altération des données</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data_tampering</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V2 → V1</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bg1"/>
                    </a:solidFill>
                  </a:tcPr>
                </a:tc>
              </a:tr>
              <a:tr h="548640">
                <a:tc>
                  <a:txBody>
                    <a:bodyPr/>
                    <a:lstStyle/>
                    <a:p>
                      <a:pPr indent="0" marL="0">
                        <a:buNone/>
                      </a:pPr>
                      <a:r>
                        <a:rPr lang="en-US" sz="1400" dirty="0">
                          <a:solidFill>
                            <a:schemeClr val="tx1"/>
                          </a:solidFill>
                        </a:rPr>
                        <a:t>Panne d'un composant</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service_crash, db_outage</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V3 → V1</a:t>
                      </a:r>
                      <a:endParaRPr lang="en-US" sz="1400" dirty="0"/>
                    </a:p>
                  </a:txBody>
                  <a:tcPr marL="73152" marR="73152" marT="73152" marB="73152" anchor="ctr">
                    <a:lnL w="9525" cap="flat" cmpd="sng" algn="ctr">
                      <a:solidFill>
                        <a:srgbClr val="A1A6D4"/>
                      </a:solidFill>
                      <a:prstDash val="solid"/>
                      <a:round/>
                      <a:headEnd type="none" w="med" len="med"/>
                      <a:tailEnd type="none" w="med" len="med"/>
                    </a:lnL>
                    <a:lnR w="9525" cap="flat" cmpd="sng" algn="ctr">
                      <a:solidFill>
                        <a:srgbClr val="A1A6D4"/>
                      </a:solidFill>
                      <a:prstDash val="solid"/>
                      <a:round/>
                      <a:headEnd type="none" w="med" len="med"/>
                      <a:tailEnd type="none" w="med" len="med"/>
                    </a:lnR>
                    <a:lnT w="9525" cap="flat" cmpd="sng" algn="ctr">
                      <a:solidFill>
                        <a:srgbClr val="A1A6D4"/>
                      </a:solidFill>
                      <a:prstDash val="solid"/>
                      <a:round/>
                      <a:headEnd type="none" w="med" len="med"/>
                      <a:tailEnd type="none" w="med" len="med"/>
                    </a:lnT>
                    <a:lnB w="9525" cap="flat" cmpd="sng" algn="ctr">
                      <a:solidFill>
                        <a:srgbClr val="A1A6D4"/>
                      </a:solidFill>
                      <a:prstDash val="solid"/>
                      <a:round/>
                      <a:headEnd type="none" w="med" len="med"/>
                      <a:tailEnd type="none" w="med" len="med"/>
                    </a:lnB>
                    <a:solidFill>
                      <a:schemeClr val="bg1"/>
                    </a:solidFill>
                  </a:tcPr>
                </a:tc>
              </a:tr>
            </a:tbl>
          </a:graphicData>
        </a:graphic>
      </p:graphicFrame>
      <p:sp>
        <p:nvSpPr>
          <p:cNvPr id="4" name="Texte PCA"/>
          <p:cNvSpPr txBox="1"/>
          <p:nvPr/>
        </p:nvSpPr>
        <p:spPr>
          <a:xfrm>
            <a:off x="548640" y="4983480"/>
            <a:ext cx="6949440" cy="914400"/>
          </a:xfrm>
          <a:prstGeom prst="rect">
            <a:avLst/>
          </a:prstGeom>
          <a:noFill/>
          <a:ln/>
        </p:spPr>
        <p:txBody>
          <a:bodyPr wrap="square" lIns="0" tIns="0" rIns="0" bIns="0" rtlCol="0" anchor="t"/>
          <a:lstStyle/>
          <a:p>
            <a:pPr indent="0" marL="0">
              <a:buNone/>
            </a:pPr>
            <a:r>
              <a:rPr lang="en-US" sz="1500" b="1" dirty="0">
                <a:solidFill>
                  <a:schemeClr val="tx1"/>
                </a:solidFill>
              </a:rPr>
              <a:t>PCA/PRA : </a:t>
            </a:r>
            <a:pPr indent="0" marL="0">
              <a:buNone/>
            </a:pPr>
            <a:r>
              <a:rPr lang="en-US" sz="1500" dirty="0">
                <a:solidFill>
                  <a:schemeClr val="tx1"/>
                </a:solidFill>
              </a:rPr>
              <a:t>RTO cible 60 s pour le paiement, RPO ≤ 2 min pour les données (sauvegarde toutes les 2 min). Nos tests de chaos sont nos exercices de PRA.</a:t>
            </a:r>
            <a:endParaRPr lang="en-US" sz="1500" dirty="0"/>
          </a:p>
        </p:txBody>
      </p:sp>
      <p:sp>
        <p:nvSpPr>
          <p:cNvPr id="5" name="Carte DORA"/>
          <p:cNvSpPr/>
          <p:nvPr/>
        </p:nvSpPr>
        <p:spPr>
          <a:xfrm>
            <a:off x="7955280" y="1417320"/>
            <a:ext cx="3657600" cy="4480560"/>
          </a:xfrm>
          <a:prstGeom prst="roundRect">
            <a:avLst>
              <a:gd name="adj" fmla="val 3000"/>
            </a:avLst>
          </a:prstGeom>
          <a:solidFill>
            <a:schemeClr val="tx1"/>
          </a:solidFill>
          <a:ln w="12700">
            <a:solidFill>
              <a:schemeClr val="tx1"/>
            </a:solidFill>
            <a:prstDash val="solid"/>
          </a:ln>
        </p:spPr>
      </p:sp>
      <p:sp>
        <p:nvSpPr>
          <p:cNvPr id="6" name="Titre DORA"/>
          <p:cNvSpPr txBox="1"/>
          <p:nvPr/>
        </p:nvSpPr>
        <p:spPr>
          <a:xfrm>
            <a:off x="8229600" y="1600200"/>
            <a:ext cx="3200400" cy="457200"/>
          </a:xfrm>
          <a:prstGeom prst="rect">
            <a:avLst/>
          </a:prstGeom>
          <a:noFill/>
          <a:ln/>
        </p:spPr>
        <p:txBody>
          <a:bodyPr wrap="square" lIns="0" tIns="0" rIns="0" bIns="0" rtlCol="0" anchor="ctr"/>
          <a:lstStyle/>
          <a:p>
            <a:pPr indent="0" marL="0">
              <a:buNone/>
            </a:pPr>
            <a:r>
              <a:rPr lang="en-US" sz="1800" b="1" dirty="0">
                <a:solidFill>
                  <a:schemeClr val="bg1"/>
                </a:solidFill>
              </a:rPr>
              <a:t>Conformité DORA / NIS2</a:t>
            </a:r>
            <a:endParaRPr lang="en-US" sz="1800" dirty="0"/>
          </a:p>
        </p:txBody>
      </p:sp>
      <p:sp>
        <p:nvSpPr>
          <p:cNvPr id="7" name="Liste DORA"/>
          <p:cNvSpPr txBox="1"/>
          <p:nvPr/>
        </p:nvSpPr>
        <p:spPr>
          <a:xfrm>
            <a:off x="8229600" y="2148840"/>
            <a:ext cx="3200400" cy="35661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Art. 10 — détecter : ML + SIEM</a:t>
            </a:r>
            <a:endParaRPr lang="en-US" sz="1500" dirty="0"/>
          </a:p>
          <a:p>
            <a:pPr marL="342900" indent="-342900">
              <a:spcAft>
                <a:spcPts val="1000"/>
              </a:spcAft>
              <a:buSzPct val="100000"/>
              <a:buChar char="•"/>
            </a:pPr>
            <a:r>
              <a:rPr lang="en-US" sz="1500" dirty="0">
                <a:solidFill>
                  <a:schemeClr val="bg1"/>
                </a:solidFill>
              </a:rPr>
              <a:t>Art. 11-12 — répondre, rétablir : remédiation, restauration testée</a:t>
            </a:r>
            <a:endParaRPr lang="en-US" sz="1500" dirty="0"/>
          </a:p>
          <a:p>
            <a:pPr marL="342900" indent="-342900">
              <a:spcAft>
                <a:spcPts val="1000"/>
              </a:spcAft>
              <a:buSzPct val="100000"/>
              <a:buChar char="•"/>
            </a:pPr>
            <a:r>
              <a:rPr lang="en-US" sz="1500" dirty="0">
                <a:solidFill>
                  <a:schemeClr val="bg1"/>
                </a:solidFill>
              </a:rPr>
              <a:t>Art. 19 — notifier : brouillon de rapport par le RAG local</a:t>
            </a:r>
            <a:endParaRPr lang="en-US" sz="1500" dirty="0"/>
          </a:p>
          <a:p>
            <a:pPr marL="342900" indent="-342900">
              <a:spcAft>
                <a:spcPts val="1000"/>
              </a:spcAft>
              <a:buSzPct val="100000"/>
              <a:buChar char="•"/>
            </a:pPr>
            <a:r>
              <a:rPr lang="en-US" sz="1500" dirty="0">
                <a:solidFill>
                  <a:schemeClr val="bg1"/>
                </a:solidFill>
              </a:rPr>
              <a:t>Art. 24-25 — tester : chaos engineering</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8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Nos recommandations à la direction</a:t>
            </a:r>
            <a:endParaRPr lang="en-US" sz="3400" dirty="0"/>
          </a:p>
        </p:txBody>
      </p:sp>
      <p:sp>
        <p:nvSpPr>
          <p:cNvPr id="3" name="Recommandation 1"/>
          <p:cNvSpPr/>
          <p:nvPr/>
        </p:nvSpPr>
        <p:spPr>
          <a:xfrm>
            <a:off x="548640" y="1463040"/>
            <a:ext cx="3474720" cy="3657600"/>
          </a:xfrm>
          <a:prstGeom prst="roundRect">
            <a:avLst>
              <a:gd name="adj" fmla="val 3158"/>
            </a:avLst>
          </a:prstGeom>
          <a:solidFill>
            <a:schemeClr val="bg2"/>
          </a:solidFill>
          <a:ln w="12700">
            <a:solidFill>
              <a:schemeClr val="bg2"/>
            </a:solidFill>
            <a:prstDash val="solid"/>
          </a:ln>
        </p:spPr>
      </p:sp>
      <p:sp>
        <p:nvSpPr>
          <p:cNvPr id="4" name="Numéro recommandation 1"/>
          <p:cNvSpPr/>
          <p:nvPr/>
        </p:nvSpPr>
        <p:spPr>
          <a:xfrm>
            <a:off x="868680" y="1737360"/>
            <a:ext cx="914400" cy="914400"/>
          </a:xfrm>
          <a:prstGeom prst="ellipse">
            <a:avLst/>
          </a:prstGeom>
          <a:solidFill>
            <a:schemeClr val="tx1"/>
          </a:solidFill>
          <a:ln w="12700">
            <a:solidFill>
              <a:schemeClr val="tx1"/>
            </a:solidFill>
            <a:prstDash val="solid"/>
          </a:ln>
        </p:spPr>
      </p:sp>
      <p:sp>
        <p:nvSpPr>
          <p:cNvPr id="5" name="Numéro recommandation 1 texte"/>
          <p:cNvSpPr txBox="1"/>
          <p:nvPr/>
        </p:nvSpPr>
        <p:spPr>
          <a:xfrm>
            <a:off x="868680" y="1737360"/>
            <a:ext cx="914400" cy="91440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6" name="Titre recommandation 1"/>
          <p:cNvSpPr txBox="1"/>
          <p:nvPr/>
        </p:nvSpPr>
        <p:spPr>
          <a:xfrm>
            <a:off x="868680" y="2834640"/>
            <a:ext cx="2926080" cy="914400"/>
          </a:xfrm>
          <a:prstGeom prst="rect">
            <a:avLst/>
          </a:prstGeom>
          <a:noFill/>
          <a:ln/>
        </p:spPr>
        <p:txBody>
          <a:bodyPr wrap="square" lIns="0" tIns="0" rIns="0" bIns="0" rtlCol="0" anchor="t"/>
          <a:lstStyle/>
          <a:p>
            <a:pPr indent="0" marL="0">
              <a:buNone/>
            </a:pPr>
            <a:r>
              <a:rPr lang="en-US" sz="2000" b="1" dirty="0">
                <a:solidFill>
                  <a:schemeClr val="tx1"/>
                </a:solidFill>
              </a:rPr>
              <a:t>Étendre la réparation automatique</a:t>
            </a:r>
            <a:endParaRPr lang="en-US" sz="2000" dirty="0"/>
          </a:p>
        </p:txBody>
      </p:sp>
      <p:sp>
        <p:nvSpPr>
          <p:cNvPr id="7" name="Détail recommandation 1"/>
          <p:cNvSpPr txBox="1"/>
          <p:nvPr/>
        </p:nvSpPr>
        <p:spPr>
          <a:xfrm>
            <a:off x="868680" y="3794760"/>
            <a:ext cx="2926080" cy="1097280"/>
          </a:xfrm>
          <a:prstGeom prst="rect">
            <a:avLst/>
          </a:prstGeom>
          <a:noFill/>
          <a:ln/>
        </p:spPr>
        <p:txBody>
          <a:bodyPr wrap="square" lIns="0" tIns="0" rIns="0" bIns="0" rtlCol="0" anchor="t"/>
          <a:lstStyle/>
          <a:p>
            <a:pPr indent="0" marL="0">
              <a:buNone/>
            </a:pPr>
            <a:r>
              <a:rPr lang="en-US" sz="1500" dirty="0">
                <a:solidFill>
                  <a:schemeClr val="tx1"/>
                </a:solidFill>
              </a:rPr>
              <a:t>aux services critiques, avec une politique revue en comité des risques</a:t>
            </a:r>
            <a:endParaRPr lang="en-US" sz="1500" dirty="0"/>
          </a:p>
        </p:txBody>
      </p:sp>
      <p:sp>
        <p:nvSpPr>
          <p:cNvPr id="8" name="Recommandation 2"/>
          <p:cNvSpPr/>
          <p:nvPr/>
        </p:nvSpPr>
        <p:spPr>
          <a:xfrm>
            <a:off x="4343400" y="1463040"/>
            <a:ext cx="3474720" cy="3657600"/>
          </a:xfrm>
          <a:prstGeom prst="roundRect">
            <a:avLst>
              <a:gd name="adj" fmla="val 3158"/>
            </a:avLst>
          </a:prstGeom>
          <a:solidFill>
            <a:schemeClr val="bg2"/>
          </a:solidFill>
          <a:ln w="12700">
            <a:solidFill>
              <a:schemeClr val="bg2"/>
            </a:solidFill>
            <a:prstDash val="solid"/>
          </a:ln>
        </p:spPr>
      </p:sp>
      <p:sp>
        <p:nvSpPr>
          <p:cNvPr id="9" name="Numéro recommandation 2"/>
          <p:cNvSpPr/>
          <p:nvPr/>
        </p:nvSpPr>
        <p:spPr>
          <a:xfrm>
            <a:off x="4663440" y="1737360"/>
            <a:ext cx="914400" cy="914400"/>
          </a:xfrm>
          <a:prstGeom prst="ellipse">
            <a:avLst/>
          </a:prstGeom>
          <a:solidFill>
            <a:schemeClr val="tx1"/>
          </a:solidFill>
          <a:ln w="12700">
            <a:solidFill>
              <a:schemeClr val="tx1"/>
            </a:solidFill>
            <a:prstDash val="solid"/>
          </a:ln>
        </p:spPr>
      </p:sp>
      <p:sp>
        <p:nvSpPr>
          <p:cNvPr id="10" name="Numéro recommandation 2 texte"/>
          <p:cNvSpPr txBox="1"/>
          <p:nvPr/>
        </p:nvSpPr>
        <p:spPr>
          <a:xfrm>
            <a:off x="4663440" y="1737360"/>
            <a:ext cx="914400" cy="91440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11" name="Titre recommandation 2"/>
          <p:cNvSpPr txBox="1"/>
          <p:nvPr/>
        </p:nvSpPr>
        <p:spPr>
          <a:xfrm>
            <a:off x="4663440" y="2834640"/>
            <a:ext cx="2926080" cy="914400"/>
          </a:xfrm>
          <a:prstGeom prst="rect">
            <a:avLst/>
          </a:prstGeom>
          <a:noFill/>
          <a:ln/>
        </p:spPr>
        <p:txBody>
          <a:bodyPr wrap="square" lIns="0" tIns="0" rIns="0" bIns="0" rtlCol="0" anchor="t"/>
          <a:lstStyle/>
          <a:p>
            <a:pPr indent="0" marL="0">
              <a:buNone/>
            </a:pPr>
            <a:r>
              <a:rPr lang="en-US" sz="2000" b="1" dirty="0">
                <a:solidFill>
                  <a:schemeClr val="tx1"/>
                </a:solidFill>
              </a:rPr>
              <a:t>Supprimer le point unique de défaillance</a:t>
            </a:r>
            <a:endParaRPr lang="en-US" sz="2000" dirty="0"/>
          </a:p>
        </p:txBody>
      </p:sp>
      <p:sp>
        <p:nvSpPr>
          <p:cNvPr id="12" name="Détail recommandation 2"/>
          <p:cNvSpPr txBox="1"/>
          <p:nvPr/>
        </p:nvSpPr>
        <p:spPr>
          <a:xfrm>
            <a:off x="4663440" y="3794760"/>
            <a:ext cx="2926080" cy="1097280"/>
          </a:xfrm>
          <a:prstGeom prst="rect">
            <a:avLst/>
          </a:prstGeom>
          <a:noFill/>
          <a:ln/>
        </p:spPr>
        <p:txBody>
          <a:bodyPr wrap="square" lIns="0" tIns="0" rIns="0" bIns="0" rtlCol="0" anchor="t"/>
          <a:lstStyle/>
          <a:p>
            <a:pPr indent="0" marL="0">
              <a:buNone/>
            </a:pPr>
            <a:r>
              <a:rPr lang="en-US" sz="1500" dirty="0">
                <a:solidFill>
                  <a:schemeClr val="tx1"/>
                </a:solidFill>
              </a:rPr>
              <a:t>au moins deux serveurs, base répliquée, reprise multi-site</a:t>
            </a:r>
            <a:endParaRPr lang="en-US" sz="1500" dirty="0"/>
          </a:p>
        </p:txBody>
      </p:sp>
      <p:sp>
        <p:nvSpPr>
          <p:cNvPr id="13" name="Recommandation 3"/>
          <p:cNvSpPr/>
          <p:nvPr/>
        </p:nvSpPr>
        <p:spPr>
          <a:xfrm>
            <a:off x="8138160" y="1463040"/>
            <a:ext cx="3474720" cy="3657600"/>
          </a:xfrm>
          <a:prstGeom prst="roundRect">
            <a:avLst>
              <a:gd name="adj" fmla="val 3158"/>
            </a:avLst>
          </a:prstGeom>
          <a:solidFill>
            <a:schemeClr val="bg2"/>
          </a:solidFill>
          <a:ln w="12700">
            <a:solidFill>
              <a:schemeClr val="bg2"/>
            </a:solidFill>
            <a:prstDash val="solid"/>
          </a:ln>
        </p:spPr>
      </p:sp>
      <p:sp>
        <p:nvSpPr>
          <p:cNvPr id="14" name="Numéro recommandation 3"/>
          <p:cNvSpPr/>
          <p:nvPr/>
        </p:nvSpPr>
        <p:spPr>
          <a:xfrm>
            <a:off x="8458200" y="1737360"/>
            <a:ext cx="914400" cy="914400"/>
          </a:xfrm>
          <a:prstGeom prst="ellipse">
            <a:avLst/>
          </a:prstGeom>
          <a:solidFill>
            <a:schemeClr val="tx1"/>
          </a:solidFill>
          <a:ln w="12700">
            <a:solidFill>
              <a:schemeClr val="tx1"/>
            </a:solidFill>
            <a:prstDash val="solid"/>
          </a:ln>
        </p:spPr>
      </p:sp>
      <p:sp>
        <p:nvSpPr>
          <p:cNvPr id="15" name="Numéro recommandation 3 texte"/>
          <p:cNvSpPr txBox="1"/>
          <p:nvPr/>
        </p:nvSpPr>
        <p:spPr>
          <a:xfrm>
            <a:off x="8458200" y="1737360"/>
            <a:ext cx="914400" cy="91440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6" name="Titre recommandation 3"/>
          <p:cNvSpPr txBox="1"/>
          <p:nvPr/>
        </p:nvSpPr>
        <p:spPr>
          <a:xfrm>
            <a:off x="8458200" y="2834640"/>
            <a:ext cx="2926080" cy="914400"/>
          </a:xfrm>
          <a:prstGeom prst="rect">
            <a:avLst/>
          </a:prstGeom>
          <a:noFill/>
          <a:ln/>
        </p:spPr>
        <p:txBody>
          <a:bodyPr wrap="square" lIns="0" tIns="0" rIns="0" bIns="0" rtlCol="0" anchor="t"/>
          <a:lstStyle/>
          <a:p>
            <a:pPr indent="0" marL="0">
              <a:buNone/>
            </a:pPr>
            <a:r>
              <a:rPr lang="en-US" sz="2000" b="1" dirty="0">
                <a:solidFill>
                  <a:schemeClr val="tx1"/>
                </a:solidFill>
              </a:rPr>
              <a:t>Tester la résilience chaque mois</a:t>
            </a:r>
            <a:endParaRPr lang="en-US" sz="2000" dirty="0"/>
          </a:p>
        </p:txBody>
      </p:sp>
      <p:sp>
        <p:nvSpPr>
          <p:cNvPr id="17" name="Détail recommandation 3"/>
          <p:cNvSpPr txBox="1"/>
          <p:nvPr/>
        </p:nvSpPr>
        <p:spPr>
          <a:xfrm>
            <a:off x="8458200" y="3794760"/>
            <a:ext cx="2926080" cy="1097280"/>
          </a:xfrm>
          <a:prstGeom prst="rect">
            <a:avLst/>
          </a:prstGeom>
          <a:noFill/>
          <a:ln/>
        </p:spPr>
        <p:txBody>
          <a:bodyPr wrap="square" lIns="0" tIns="0" rIns="0" bIns="0" rtlCol="0" anchor="t"/>
          <a:lstStyle/>
          <a:p>
            <a:pPr indent="0" marL="0">
              <a:buNone/>
            </a:pPr>
            <a:r>
              <a:rPr lang="en-US" sz="1500" dirty="0">
                <a:solidFill>
                  <a:schemeClr val="tx1"/>
                </a:solidFill>
              </a:rPr>
              <a:t>chaos engineering, comme l'exige DORA</a:t>
            </a:r>
            <a:endParaRPr lang="en-US" sz="1500" dirty="0"/>
          </a:p>
        </p:txBody>
      </p:sp>
      <p:sp>
        <p:nvSpPr>
          <p:cNvPr id="18" name="Autres recommandations"/>
          <p:cNvSpPr txBox="1"/>
          <p:nvPr/>
        </p:nvSpPr>
        <p:spPr>
          <a:xfrm>
            <a:off x="548640" y="5394960"/>
            <a:ext cx="11064240" cy="457200"/>
          </a:xfrm>
          <a:prstGeom prst="rect">
            <a:avLst/>
          </a:prstGeom>
          <a:noFill/>
          <a:ln/>
        </p:spPr>
        <p:txBody>
          <a:bodyPr wrap="square" lIns="0" tIns="0" rIns="0" bIns="0" rtlCol="0" anchor="ctr"/>
          <a:lstStyle/>
          <a:p>
            <a:pPr indent="0" marL="0">
              <a:buNone/>
            </a:pPr>
            <a:r>
              <a:rPr lang="en-US" sz="1400" i="1" dirty="0">
                <a:solidFill>
                  <a:schemeClr val="accent5"/>
                </a:solidFill>
              </a:rPr>
              <a:t>Aussi : gouvernance des modèles d'IA (versionnés, revus, LLM hors décision) · rapports DORA/NIS2 pré-remplis par l'outillage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8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1005840"/>
          </a:xfrm>
          <a:prstGeom prst="rect">
            <a:avLst/>
          </a:prstGeom>
          <a:noFill/>
          <a:ln/>
        </p:spPr>
        <p:txBody>
          <a:bodyPr wrap="square" lIns="0" tIns="0" rIns="0" bIns="0" rtlCol="0" anchor="ctr"/>
          <a:lstStyle/>
          <a:p>
            <a:pPr algn="l" indent="0" marL="0">
              <a:buNone/>
            </a:pPr>
            <a:r>
              <a:rPr lang="en-US" sz="4400" b="1" dirty="0">
                <a:solidFill>
                  <a:schemeClr val="bg1"/>
                </a:solidFill>
              </a:rPr>
              <a:t>Ne nous croyez pas sur parole : place à la démo</a:t>
            </a:r>
            <a:endParaRPr lang="en-US" sz="4400" dirty="0"/>
          </a:p>
        </p:txBody>
      </p:sp>
      <p:sp>
        <p:nvSpPr>
          <p:cNvPr id="3" name="Statut Nominal"/>
          <p:cNvSpPr/>
          <p:nvPr/>
        </p:nvSpPr>
        <p:spPr>
          <a:xfrm>
            <a:off x="1874520" y="2103120"/>
            <a:ext cx="1371600" cy="1371600"/>
          </a:xfrm>
          <a:prstGeom prst="ellipse">
            <a:avLst/>
          </a:prstGeom>
          <a:solidFill>
            <a:schemeClr val="accent6"/>
          </a:solidFill>
          <a:ln w="38100">
            <a:solidFill>
              <a:srgbClr val="FFFFFF"/>
            </a:solidFill>
            <a:prstDash val="solid"/>
          </a:ln>
        </p:spPr>
      </p:sp>
      <p:sp>
        <p:nvSpPr>
          <p:cNvPr id="4" name="Statut numéro 1"/>
          <p:cNvSpPr txBox="1"/>
          <p:nvPr/>
        </p:nvSpPr>
        <p:spPr>
          <a:xfrm>
            <a:off x="1874520" y="2103120"/>
            <a:ext cx="1371600" cy="1371600"/>
          </a:xfrm>
          <a:prstGeom prst="rect">
            <a:avLst/>
          </a:prstGeom>
          <a:noFill/>
          <a:ln/>
        </p:spPr>
        <p:txBody>
          <a:bodyPr wrap="square" lIns="0" tIns="0" rIns="0" bIns="0" rtlCol="0" anchor="ctr"/>
          <a:lstStyle/>
          <a:p>
            <a:pPr algn="ctr" indent="0" marL="0">
              <a:buNone/>
            </a:pPr>
            <a:r>
              <a:rPr lang="en-US" sz="3000" b="1" dirty="0">
                <a:solidFill>
                  <a:schemeClr val="bg1"/>
                </a:solidFill>
              </a:rPr>
              <a:t>1</a:t>
            </a:r>
            <a:endParaRPr lang="en-US" sz="3000" dirty="0"/>
          </a:p>
        </p:txBody>
      </p:sp>
      <p:sp>
        <p:nvSpPr>
          <p:cNvPr id="5" name="Statut texte 1"/>
          <p:cNvSpPr txBox="1"/>
          <p:nvPr/>
        </p:nvSpPr>
        <p:spPr>
          <a:xfrm>
            <a:off x="1097280" y="3657600"/>
            <a:ext cx="2926080" cy="1005840"/>
          </a:xfrm>
          <a:prstGeom prst="rect">
            <a:avLst/>
          </a:prstGeom>
          <a:noFill/>
          <a:ln/>
        </p:spPr>
        <p:txBody>
          <a:bodyPr wrap="square" lIns="0" tIns="0" rIns="0" bIns="0" rtlCol="0" anchor="t"/>
          <a:lstStyle/>
          <a:p>
            <a:pPr algn="ctr" indent="0" marL="0">
              <a:buNone/>
            </a:pPr>
            <a:r>
              <a:rPr lang="en-US" sz="2200" b="1" dirty="0">
                <a:solidFill>
                  <a:schemeClr val="bg1"/>
                </a:solidFill>
              </a:rPr>
              <a:t>Nominal</a:t>
            </a:r>
            <a:endParaRPr lang="en-US" sz="2200" dirty="0"/>
          </a:p>
          <a:p>
            <a:pPr algn="ctr" indent="0" marL="0">
              <a:buNone/>
            </a:pPr>
            <a:r>
              <a:rPr lang="en-US" sz="1600" dirty="0">
                <a:solidFill>
                  <a:schemeClr val="accent2"/>
                </a:solidFill>
              </a:rPr>
              <a:t>les virements défilent</a:t>
            </a:r>
            <a:endParaRPr lang="en-US" sz="2200" dirty="0"/>
          </a:p>
        </p:txBody>
      </p:sp>
      <p:sp>
        <p:nvSpPr>
          <p:cNvPr id="6" name="Flèche"/>
          <p:cNvSpPr/>
          <p:nvPr/>
        </p:nvSpPr>
        <p:spPr>
          <a:xfrm>
            <a:off x="3429000" y="2788920"/>
            <a:ext cx="1828800" cy="914"/>
          </a:xfrm>
          <a:prstGeom prst="line">
            <a:avLst/>
          </a:prstGeom>
          <a:noFill/>
          <a:ln w="22225">
            <a:solidFill>
              <a:schemeClr val="accent2"/>
            </a:solidFill>
            <a:prstDash val="solid"/>
            <a:tailEnd type="triangle"/>
          </a:ln>
        </p:spPr>
      </p:sp>
      <p:sp>
        <p:nvSpPr>
          <p:cNvPr id="7" name="Statut Attaque détectée"/>
          <p:cNvSpPr/>
          <p:nvPr/>
        </p:nvSpPr>
        <p:spPr>
          <a:xfrm>
            <a:off x="5440680" y="2103120"/>
            <a:ext cx="1371600" cy="1371600"/>
          </a:xfrm>
          <a:prstGeom prst="ellipse">
            <a:avLst/>
          </a:prstGeom>
          <a:solidFill>
            <a:srgbClr val="D9822B"/>
          </a:solidFill>
          <a:ln w="38100">
            <a:solidFill>
              <a:srgbClr val="FFFFFF"/>
            </a:solidFill>
            <a:prstDash val="solid"/>
          </a:ln>
        </p:spPr>
      </p:sp>
      <p:sp>
        <p:nvSpPr>
          <p:cNvPr id="8" name="Statut numéro 2"/>
          <p:cNvSpPr txBox="1"/>
          <p:nvPr/>
        </p:nvSpPr>
        <p:spPr>
          <a:xfrm>
            <a:off x="5440680" y="2103120"/>
            <a:ext cx="1371600" cy="1371600"/>
          </a:xfrm>
          <a:prstGeom prst="rect">
            <a:avLst/>
          </a:prstGeom>
          <a:noFill/>
          <a:ln/>
        </p:spPr>
        <p:txBody>
          <a:bodyPr wrap="square" lIns="0" tIns="0" rIns="0" bIns="0" rtlCol="0" anchor="ctr"/>
          <a:lstStyle/>
          <a:p>
            <a:pPr algn="ctr" indent="0" marL="0">
              <a:buNone/>
            </a:pPr>
            <a:r>
              <a:rPr lang="en-US" sz="3000" b="1" dirty="0">
                <a:solidFill>
                  <a:schemeClr val="bg1"/>
                </a:solidFill>
              </a:rPr>
              <a:t>2</a:t>
            </a:r>
            <a:endParaRPr lang="en-US" sz="3000" dirty="0"/>
          </a:p>
        </p:txBody>
      </p:sp>
      <p:sp>
        <p:nvSpPr>
          <p:cNvPr id="9" name="Statut texte 2"/>
          <p:cNvSpPr txBox="1"/>
          <p:nvPr/>
        </p:nvSpPr>
        <p:spPr>
          <a:xfrm>
            <a:off x="4663440" y="3657600"/>
            <a:ext cx="2926080" cy="1005840"/>
          </a:xfrm>
          <a:prstGeom prst="rect">
            <a:avLst/>
          </a:prstGeom>
          <a:noFill/>
          <a:ln/>
        </p:spPr>
        <p:txBody>
          <a:bodyPr wrap="square" lIns="0" tIns="0" rIns="0" bIns="0" rtlCol="0" anchor="t"/>
          <a:lstStyle/>
          <a:p>
            <a:pPr algn="ctr" indent="0" marL="0">
              <a:buNone/>
            </a:pPr>
            <a:r>
              <a:rPr lang="en-US" sz="2200" b="1" dirty="0">
                <a:solidFill>
                  <a:schemeClr val="bg1"/>
                </a:solidFill>
              </a:rPr>
              <a:t>Attaque détectée</a:t>
            </a:r>
            <a:endParaRPr lang="en-US" sz="2200" dirty="0"/>
          </a:p>
          <a:p>
            <a:pPr algn="ctr" indent="0" marL="0">
              <a:buNone/>
            </a:pPr>
            <a:r>
              <a:rPr lang="en-US" sz="1600" dirty="0">
                <a:solidFill>
                  <a:schemeClr val="accent2"/>
                </a:solidFill>
              </a:rPr>
              <a:t>le ML qualifie l'incident</a:t>
            </a:r>
            <a:endParaRPr lang="en-US" sz="2200" dirty="0"/>
          </a:p>
        </p:txBody>
      </p:sp>
      <p:sp>
        <p:nvSpPr>
          <p:cNvPr id="10" name="Flèche"/>
          <p:cNvSpPr/>
          <p:nvPr/>
        </p:nvSpPr>
        <p:spPr>
          <a:xfrm>
            <a:off x="6995160" y="2788920"/>
            <a:ext cx="1828800" cy="914"/>
          </a:xfrm>
          <a:prstGeom prst="line">
            <a:avLst/>
          </a:prstGeom>
          <a:noFill/>
          <a:ln w="22225">
            <a:solidFill>
              <a:schemeClr val="accent2"/>
            </a:solidFill>
            <a:prstDash val="solid"/>
            <a:tailEnd type="triangle"/>
          </a:ln>
        </p:spPr>
      </p:sp>
      <p:sp>
        <p:nvSpPr>
          <p:cNvPr id="11" name="Statut Reprise vérifiée"/>
          <p:cNvSpPr/>
          <p:nvPr/>
        </p:nvSpPr>
        <p:spPr>
          <a:xfrm>
            <a:off x="9006840" y="2103120"/>
            <a:ext cx="1371600" cy="1371600"/>
          </a:xfrm>
          <a:prstGeom prst="ellipse">
            <a:avLst/>
          </a:prstGeom>
          <a:solidFill>
            <a:schemeClr val="accent6"/>
          </a:solidFill>
          <a:ln w="38100">
            <a:solidFill>
              <a:srgbClr val="FFFFFF"/>
            </a:solidFill>
            <a:prstDash val="solid"/>
          </a:ln>
        </p:spPr>
      </p:sp>
      <p:sp>
        <p:nvSpPr>
          <p:cNvPr id="12" name="Statut numéro 3"/>
          <p:cNvSpPr txBox="1"/>
          <p:nvPr/>
        </p:nvSpPr>
        <p:spPr>
          <a:xfrm>
            <a:off x="9006840" y="2103120"/>
            <a:ext cx="1371600" cy="1371600"/>
          </a:xfrm>
          <a:prstGeom prst="rect">
            <a:avLst/>
          </a:prstGeom>
          <a:noFill/>
          <a:ln/>
        </p:spPr>
        <p:txBody>
          <a:bodyPr wrap="square" lIns="0" tIns="0" rIns="0" bIns="0" rtlCol="0" anchor="ctr"/>
          <a:lstStyle/>
          <a:p>
            <a:pPr algn="ctr" indent="0" marL="0">
              <a:buNone/>
            </a:pPr>
            <a:r>
              <a:rPr lang="en-US" sz="3000" b="1" dirty="0">
                <a:solidFill>
                  <a:schemeClr val="bg1"/>
                </a:solidFill>
              </a:rPr>
              <a:t>3</a:t>
            </a:r>
            <a:endParaRPr lang="en-US" sz="3000" dirty="0"/>
          </a:p>
        </p:txBody>
      </p:sp>
      <p:sp>
        <p:nvSpPr>
          <p:cNvPr id="13" name="Statut texte 3"/>
          <p:cNvSpPr txBox="1"/>
          <p:nvPr/>
        </p:nvSpPr>
        <p:spPr>
          <a:xfrm>
            <a:off x="8229600" y="3657600"/>
            <a:ext cx="2926080" cy="1005840"/>
          </a:xfrm>
          <a:prstGeom prst="rect">
            <a:avLst/>
          </a:prstGeom>
          <a:noFill/>
          <a:ln/>
        </p:spPr>
        <p:txBody>
          <a:bodyPr wrap="square" lIns="0" tIns="0" rIns="0" bIns="0" rtlCol="0" anchor="t"/>
          <a:lstStyle/>
          <a:p>
            <a:pPr algn="ctr" indent="0" marL="0">
              <a:buNone/>
            </a:pPr>
            <a:r>
              <a:rPr lang="en-US" sz="2200" b="1" dirty="0">
                <a:solidFill>
                  <a:schemeClr val="bg1"/>
                </a:solidFill>
              </a:rPr>
              <a:t>Reprise vérifiée</a:t>
            </a:r>
            <a:endParaRPr lang="en-US" sz="2200" dirty="0"/>
          </a:p>
          <a:p>
            <a:pPr algn="ctr" indent="0" marL="0">
              <a:buNone/>
            </a:pPr>
            <a:r>
              <a:rPr lang="en-US" sz="1600" dirty="0">
                <a:solidFill>
                  <a:schemeClr val="accent2"/>
                </a:solidFill>
              </a:rPr>
              <a:t>virement témoin réussi</a:t>
            </a:r>
            <a:endParaRPr lang="en-US" sz="2200" dirty="0"/>
          </a:p>
        </p:txBody>
      </p:sp>
      <p:sp>
        <p:nvSpPr>
          <p:cNvPr id="14" name="Consigne démo"/>
          <p:cNvSpPr txBox="1"/>
          <p:nvPr/>
        </p:nvSpPr>
        <p:spPr>
          <a:xfrm>
            <a:off x="548640" y="5303520"/>
            <a:ext cx="11064240" cy="457200"/>
          </a:xfrm>
          <a:prstGeom prst="rect">
            <a:avLst/>
          </a:prstGeom>
          <a:noFill/>
          <a:ln/>
        </p:spPr>
        <p:txBody>
          <a:bodyPr wrap="square" lIns="0" tIns="0" rIns="0" bIns="0" rtlCol="0" anchor="ctr"/>
          <a:lstStyle/>
          <a:p>
            <a:pPr algn="ctr" indent="0" marL="0">
              <a:buNone/>
            </a:pPr>
            <a:r>
              <a:rPr lang="en-US" sz="1800" dirty="0">
                <a:solidFill>
                  <a:schemeClr val="bg1"/>
                </a:solidFill>
              </a:rPr>
              <a:t>Attaque lancée depuis le PC Attaquant · mains hors du clavier du PC Hôte · moins d'une minute</a:t>
            </a:r>
            <a:endParaRPr lang="en-US" sz="1800" dirty="0"/>
          </a:p>
        </p:txBody>
      </p:sp>
    </p:spTree>
  </p:cSld>
  <p:clrMapOvr>
    <a:masterClrMapping/>
  </p:clrMapOvr>
</p:sld>
</file>

<file path=ppt/theme/theme1.xml><?xml version="1.0" encoding="utf-8"?>
<a:theme xmlns:a="http://schemas.openxmlformats.org/drawingml/2006/main" name="Resilience Alpha">
  <a:themeElements>
    <a:clrScheme name="Resilience Alpha">
      <a:dk1>
        <a:srgbClr val="261E48"/>
      </a:dk1>
      <a:lt1>
        <a:srgbClr val="FFFFFF"/>
      </a:lt1>
      <a:dk2>
        <a:srgbClr val="4A4E9C"/>
      </a:dk2>
      <a:lt2>
        <a:srgbClr val="E4E6F3"/>
      </a:lt2>
      <a:accent1>
        <a:srgbClr val="4A4E9C"/>
      </a:accent1>
      <a:accent2>
        <a:srgbClr val="A1A6D4"/>
      </a:accent2>
      <a:accent3>
        <a:srgbClr val="261E48"/>
      </a:accent3>
      <a:accent4>
        <a:srgbClr val="3A3270"/>
      </a:accent4>
      <a:accent5>
        <a:srgbClr val="5E5878"/>
      </a:accent5>
      <a:accent6>
        <a:srgbClr val="1E8A5A"/>
      </a:accent6>
      <a:hlink>
        <a:srgbClr val="4A4E9C"/>
      </a:hlink>
      <a:folHlink>
        <a:srgbClr val="5E5878"/>
      </a:folHlink>
    </a:clrScheme>
    <a:fontScheme name="Resilience Alph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RESILIENCE-ALPHA — Workshop M2 2026</dc:title>
  <dc:subject>PptxGenJS Presentation</dc:subject>
  <dc:creator>Consortium Workshop2026-M2</dc:creator>
  <cp:lastModifiedBy>Consortium Workshop2026-M2</cp:lastModifiedBy>
  <cp:revision>1</cp:revision>
  <dcterms:created xsi:type="dcterms:W3CDTF">2026-10-22T07:46:40Z</dcterms:created>
  <dcterms:modified xsi:type="dcterms:W3CDTF">2026-10-22T07:46:40Z</dcterms:modified>
</cp:coreProperties>
</file>